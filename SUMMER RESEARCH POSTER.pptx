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 id="2147483677" r:id="rId5"/>
    <p:sldMasterId id="2147483662" r:id="rId6"/>
    <p:sldMasterId id="2147483681" r:id="rId7"/>
  </p:sldMasterIdLst>
  <p:notesMasterIdLst>
    <p:notesMasterId r:id="rId9"/>
  </p:notesMasterIdLst>
  <p:sldIdLst>
    <p:sldId id="263" r:id="rId8"/>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C24"/>
    <a:srgbClr val="252685"/>
    <a:srgbClr val="014C22"/>
    <a:srgbClr val="C8C271"/>
    <a:srgbClr val="E6E6E6"/>
    <a:srgbClr val="D9782D"/>
    <a:srgbClr val="6A6A6C"/>
    <a:srgbClr val="535355"/>
    <a:srgbClr val="807F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BF9AEA-12CC-43C1-BD9C-CA1AAB704135}" v="2599" dt="2022-02-28T17:27:24.459"/>
    <p1510:client id="{BD08A295-D7F9-4CC1-80E4-4BB57E1AB81B}" v="113" dt="2022-02-28T22:47:14.924"/>
    <p1510:client id="{DCAAAE21-D2C7-4C96-8793-CC09191407A6}" v="1019" dt="2022-02-28T18:00:45.2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58" autoAdjust="0"/>
    <p:restoredTop sz="97013"/>
  </p:normalViewPr>
  <p:slideViewPr>
    <p:cSldViewPr snapToGrid="0">
      <p:cViewPr>
        <p:scale>
          <a:sx n="35" d="100"/>
          <a:sy n="35" d="100"/>
        </p:scale>
        <p:origin x="68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DE7418-B8D1-4345-A91E-F6F8C1A44319}" type="datetimeFigureOut">
              <a:rPr lang="en-US" smtClean="0"/>
              <a:t>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FC64F3-24B0-4941-8513-9A01362D04F1}" type="slidenum">
              <a:rPr lang="en-US" smtClean="0"/>
              <a:t>‹#›</a:t>
            </a:fld>
            <a:endParaRPr lang="en-US"/>
          </a:p>
        </p:txBody>
      </p:sp>
    </p:spTree>
    <p:extLst>
      <p:ext uri="{BB962C8B-B14F-4D97-AF65-F5344CB8AC3E}">
        <p14:creationId xmlns:p14="http://schemas.microsoft.com/office/powerpoint/2010/main" val="3534362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4762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xampl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2D9FB74-2464-E542-BAE7-FDA3C646AA39}"/>
              </a:ext>
            </a:extLst>
          </p:cNvPr>
          <p:cNvSpPr/>
          <p:nvPr userDrawn="1"/>
        </p:nvSpPr>
        <p:spPr>
          <a:xfrm>
            <a:off x="0" y="1901355"/>
            <a:ext cx="43891199" cy="830997"/>
          </a:xfrm>
          <a:prstGeom prst="rect">
            <a:avLst/>
          </a:prstGeom>
        </p:spPr>
        <p:txBody>
          <a:bodyPr wrap="square">
            <a:spAutoFit/>
          </a:bodyPr>
          <a:lstStyle/>
          <a:p>
            <a:pPr algn="ctr"/>
            <a:r>
              <a:rPr lang="en-US" sz="4800" b="1" i="1" dirty="0">
                <a:latin typeface="Arial Narrow" panose="020B0604020202020204" pitchFamily="34" charset="0"/>
                <a:cs typeface="Arial Narrow" panose="020B0604020202020204" pitchFamily="34" charset="0"/>
              </a:rPr>
              <a:t>Presenter First Last, </a:t>
            </a:r>
            <a:r>
              <a:rPr lang="en-US" sz="4800" b="0" i="1" dirty="0">
                <a:latin typeface="Arial Narrow" panose="020B0604020202020204" pitchFamily="34" charset="0"/>
                <a:cs typeface="Arial Narrow" panose="020B0604020202020204" pitchFamily="34" charset="0"/>
              </a:rPr>
              <a:t>Author 2, Author 3,… Professor First Last [48pt, Arial Narrow Italic] </a:t>
            </a:r>
          </a:p>
        </p:txBody>
      </p:sp>
      <p:sp>
        <p:nvSpPr>
          <p:cNvPr id="15" name="TextBox 14">
            <a:extLst>
              <a:ext uri="{FF2B5EF4-FFF2-40B4-BE49-F238E27FC236}">
                <a16:creationId xmlns:a16="http://schemas.microsoft.com/office/drawing/2014/main" id="{DFF5658C-FF71-6C4E-BFAD-B917B1EC7971}"/>
              </a:ext>
            </a:extLst>
          </p:cNvPr>
          <p:cNvSpPr txBox="1"/>
          <p:nvPr userDrawn="1"/>
        </p:nvSpPr>
        <p:spPr>
          <a:xfrm>
            <a:off x="1" y="125697"/>
            <a:ext cx="43891198" cy="1631216"/>
          </a:xfrm>
          <a:prstGeom prst="rect">
            <a:avLst/>
          </a:prstGeom>
          <a:noFill/>
        </p:spPr>
        <p:txBody>
          <a:bodyPr wrap="square" rtlCol="0">
            <a:spAutoFit/>
          </a:bodyPr>
          <a:lstStyle/>
          <a:p>
            <a:pPr algn="ctr"/>
            <a:r>
              <a:rPr lang="en-US" sz="10000" b="1" i="0" dirty="0">
                <a:latin typeface="Arial Narrow" panose="020B0604020202020204" pitchFamily="34" charset="0"/>
                <a:cs typeface="Arial Narrow" panose="020B0604020202020204" pitchFamily="34" charset="0"/>
              </a:rPr>
              <a:t>Eye-Catching, Informative Title [100pt, Arial Narrow Bold]</a:t>
            </a:r>
          </a:p>
        </p:txBody>
      </p:sp>
      <p:sp>
        <p:nvSpPr>
          <p:cNvPr id="16" name="TextBox 15">
            <a:extLst>
              <a:ext uri="{FF2B5EF4-FFF2-40B4-BE49-F238E27FC236}">
                <a16:creationId xmlns:a16="http://schemas.microsoft.com/office/drawing/2014/main" id="{43E49FAF-A2DB-BA41-B09F-BE5ECEB1AB48}"/>
              </a:ext>
            </a:extLst>
          </p:cNvPr>
          <p:cNvSpPr txBox="1"/>
          <p:nvPr userDrawn="1"/>
        </p:nvSpPr>
        <p:spPr>
          <a:xfrm>
            <a:off x="0" y="4253562"/>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Background and Significance </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7" name="TextBox 16">
            <a:extLst>
              <a:ext uri="{FF2B5EF4-FFF2-40B4-BE49-F238E27FC236}">
                <a16:creationId xmlns:a16="http://schemas.microsoft.com/office/drawing/2014/main" id="{749C0FCD-9573-704F-97A3-00DCCCED55F2}"/>
              </a:ext>
            </a:extLst>
          </p:cNvPr>
          <p:cNvSpPr txBox="1"/>
          <p:nvPr userDrawn="1"/>
        </p:nvSpPr>
        <p:spPr>
          <a:xfrm>
            <a:off x="-65318" y="22215542"/>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Methods/Techniques/Experiments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8" name="TextBox 17">
            <a:extLst>
              <a:ext uri="{FF2B5EF4-FFF2-40B4-BE49-F238E27FC236}">
                <a16:creationId xmlns:a16="http://schemas.microsoft.com/office/drawing/2014/main" id="{6520025A-4EF8-3C4A-99AA-2F243A00C0C3}"/>
              </a:ext>
            </a:extLst>
          </p:cNvPr>
          <p:cNvSpPr txBox="1"/>
          <p:nvPr userDrawn="1"/>
        </p:nvSpPr>
        <p:spPr>
          <a:xfrm>
            <a:off x="14499768" y="4253562"/>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Main Findings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9" name="TextBox 18">
            <a:extLst>
              <a:ext uri="{FF2B5EF4-FFF2-40B4-BE49-F238E27FC236}">
                <a16:creationId xmlns:a16="http://schemas.microsoft.com/office/drawing/2014/main" id="{53B17C63-AC97-CB46-8627-75666941F0D5}"/>
              </a:ext>
            </a:extLst>
          </p:cNvPr>
          <p:cNvSpPr txBox="1"/>
          <p:nvPr userDrawn="1"/>
        </p:nvSpPr>
        <p:spPr>
          <a:xfrm>
            <a:off x="29260800" y="4253562"/>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Results and Conclusions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20" name="TextBox 19">
            <a:extLst>
              <a:ext uri="{FF2B5EF4-FFF2-40B4-BE49-F238E27FC236}">
                <a16:creationId xmlns:a16="http://schemas.microsoft.com/office/drawing/2014/main" id="{1D96E7D1-91A0-3944-9C7C-CE018EAF3B3F}"/>
              </a:ext>
            </a:extLst>
          </p:cNvPr>
          <p:cNvSpPr txBox="1"/>
          <p:nvPr userDrawn="1"/>
        </p:nvSpPr>
        <p:spPr>
          <a:xfrm>
            <a:off x="29260799" y="16545711"/>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Future Directions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21" name="TextBox 20">
            <a:extLst>
              <a:ext uri="{FF2B5EF4-FFF2-40B4-BE49-F238E27FC236}">
                <a16:creationId xmlns:a16="http://schemas.microsoft.com/office/drawing/2014/main" id="{AEF10F8C-D791-1545-919D-143F13B2E531}"/>
              </a:ext>
            </a:extLst>
          </p:cNvPr>
          <p:cNvSpPr txBox="1"/>
          <p:nvPr userDrawn="1"/>
        </p:nvSpPr>
        <p:spPr>
          <a:xfrm>
            <a:off x="29326112" y="23797498"/>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Acknowledgements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22" name="TextBox 21">
            <a:extLst>
              <a:ext uri="{FF2B5EF4-FFF2-40B4-BE49-F238E27FC236}">
                <a16:creationId xmlns:a16="http://schemas.microsoft.com/office/drawing/2014/main" id="{9507C2AC-C67F-BD4C-B878-6B9BAD2052C7}"/>
              </a:ext>
            </a:extLst>
          </p:cNvPr>
          <p:cNvSpPr txBox="1"/>
          <p:nvPr userDrawn="1"/>
        </p:nvSpPr>
        <p:spPr>
          <a:xfrm>
            <a:off x="326567" y="6612198"/>
            <a:ext cx="13585375" cy="4647426"/>
          </a:xfrm>
          <a:prstGeom prst="rect">
            <a:avLst/>
          </a:prstGeom>
          <a:noFill/>
        </p:spPr>
        <p:txBody>
          <a:bodyPr wrap="square" rtlCol="0">
            <a:spAutoFit/>
          </a:bodyPr>
          <a:lstStyle/>
          <a:p>
            <a:pPr algn="just"/>
            <a:r>
              <a:rPr lang="en-US" sz="4800" b="0" i="0" dirty="0">
                <a:latin typeface="Arial Narrow" panose="020B0604020202020204" pitchFamily="34" charset="0"/>
                <a:cs typeface="Arial Narrow" panose="020B0604020202020204" pitchFamily="34" charset="0"/>
              </a:rPr>
              <a:t>What background information might the audience need to know in order to understand your research? What are the questions you hope to address with your research? What are your hypotheses? What is the impact of this work? [48pt Arial Narrow].</a:t>
            </a:r>
          </a:p>
          <a:p>
            <a:pPr algn="just"/>
            <a:endParaRPr lang="en-US" sz="5600" b="0" i="0" dirty="0">
              <a:latin typeface="Arial Narrow" panose="020B0604020202020204" pitchFamily="34" charset="0"/>
              <a:cs typeface="Arial Narrow" panose="020B0604020202020204" pitchFamily="34" charset="0"/>
            </a:endParaRPr>
          </a:p>
        </p:txBody>
      </p:sp>
      <p:sp>
        <p:nvSpPr>
          <p:cNvPr id="23" name="TextBox 22">
            <a:extLst>
              <a:ext uri="{FF2B5EF4-FFF2-40B4-BE49-F238E27FC236}">
                <a16:creationId xmlns:a16="http://schemas.microsoft.com/office/drawing/2014/main" id="{0838CD92-D9A1-374C-8E63-2FCD9AB56CAA}"/>
              </a:ext>
            </a:extLst>
          </p:cNvPr>
          <p:cNvSpPr txBox="1"/>
          <p:nvPr userDrawn="1"/>
        </p:nvSpPr>
        <p:spPr>
          <a:xfrm>
            <a:off x="391883" y="24789534"/>
            <a:ext cx="13585375" cy="3785652"/>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800" b="0" i="0" dirty="0">
                <a:latin typeface="Arial Narrow" panose="020B0604020202020204" pitchFamily="34" charset="0"/>
                <a:cs typeface="Arial Narrow" panose="020B0604020202020204" pitchFamily="34" charset="0"/>
              </a:rPr>
              <a:t>What is your approach to answering the research questions/ testing your hypotheses? How does this method work? Do you have to use this method in a novel way? You could have pictures here if the particular method is really important to understanding the results. [48pt Arial Narrow].</a:t>
            </a:r>
          </a:p>
        </p:txBody>
      </p:sp>
      <p:sp>
        <p:nvSpPr>
          <p:cNvPr id="24" name="TextBox 23">
            <a:extLst>
              <a:ext uri="{FF2B5EF4-FFF2-40B4-BE49-F238E27FC236}">
                <a16:creationId xmlns:a16="http://schemas.microsoft.com/office/drawing/2014/main" id="{19C5232F-E92E-6047-935F-B413079730DE}"/>
              </a:ext>
            </a:extLst>
          </p:cNvPr>
          <p:cNvSpPr txBox="1"/>
          <p:nvPr userDrawn="1"/>
        </p:nvSpPr>
        <p:spPr>
          <a:xfrm>
            <a:off x="14891651" y="6827751"/>
            <a:ext cx="13585375" cy="6001643"/>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800" b="0" i="0" dirty="0">
                <a:latin typeface="Arial Narrow" panose="020B0604020202020204" pitchFamily="34" charset="0"/>
                <a:cs typeface="Arial Narrow" panose="020B0604020202020204" pitchFamily="34" charset="0"/>
              </a:rPr>
              <a:t>What are the results from the performed experiments? If you haven’t quite completed some of the experiments, what are the possible results, and what would they mean? This section is usually in the center of the board to emphasize it. Make sure you articulate your results clearly and with enthusiasm! </a:t>
            </a:r>
            <a:r>
              <a:rPr lang="en-US" sz="4800" b="1" i="0" dirty="0">
                <a:latin typeface="Arial Narrow" panose="020B0604020202020204" pitchFamily="34" charset="0"/>
                <a:cs typeface="Arial Narrow" panose="020B0604020202020204" pitchFamily="34" charset="0"/>
              </a:rPr>
              <a:t>You can always bold sentences to really emphasize importance. Try to limit words. Figures are more informative and appealing. </a:t>
            </a:r>
            <a:r>
              <a:rPr lang="en-US" sz="4800" b="0" i="0" dirty="0">
                <a:latin typeface="Arial Narrow" panose="020B0604020202020204" pitchFamily="34" charset="0"/>
                <a:cs typeface="Arial Narrow" panose="020B0604020202020204" pitchFamily="34" charset="0"/>
              </a:rPr>
              <a:t>[48pt Arial Narrow].</a:t>
            </a:r>
            <a:r>
              <a:rPr lang="en-US" sz="4800" b="1" i="0" dirty="0">
                <a:latin typeface="Arial Narrow" panose="020B0604020202020204" pitchFamily="34" charset="0"/>
                <a:cs typeface="Arial Narrow" panose="020B0604020202020204" pitchFamily="34" charset="0"/>
              </a:rPr>
              <a:t> </a:t>
            </a:r>
          </a:p>
        </p:txBody>
      </p:sp>
      <p:pic>
        <p:nvPicPr>
          <p:cNvPr id="28" name="Picture 27">
            <a:extLst>
              <a:ext uri="{FF2B5EF4-FFF2-40B4-BE49-F238E27FC236}">
                <a16:creationId xmlns:a16="http://schemas.microsoft.com/office/drawing/2014/main" id="{5A86A08A-2F01-E14D-9F5E-F210A3B391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28314" y="10727461"/>
            <a:ext cx="11353614" cy="9149029"/>
          </a:xfrm>
          <a:prstGeom prst="rect">
            <a:avLst/>
          </a:prstGeom>
        </p:spPr>
      </p:pic>
      <p:sp>
        <p:nvSpPr>
          <p:cNvPr id="30" name="TextBox 29">
            <a:extLst>
              <a:ext uri="{FF2B5EF4-FFF2-40B4-BE49-F238E27FC236}">
                <a16:creationId xmlns:a16="http://schemas.microsoft.com/office/drawing/2014/main" id="{CC21EFD2-2E03-4A49-9D30-4DAC0D8280BD}"/>
              </a:ext>
            </a:extLst>
          </p:cNvPr>
          <p:cNvSpPr txBox="1"/>
          <p:nvPr userDrawn="1"/>
        </p:nvSpPr>
        <p:spPr>
          <a:xfrm>
            <a:off x="391883" y="19864725"/>
            <a:ext cx="13585375" cy="1754326"/>
          </a:xfrm>
          <a:prstGeom prst="rect">
            <a:avLst/>
          </a:prstGeom>
          <a:noFill/>
        </p:spPr>
        <p:txBody>
          <a:bodyPr wrap="square" rtlCol="0">
            <a:spAutoFit/>
          </a:bodyPr>
          <a:lstStyle/>
          <a:p>
            <a:pPr algn="just"/>
            <a:r>
              <a:rPr lang="en-US" sz="3600" b="0" i="0" dirty="0">
                <a:latin typeface="Arial Narrow" panose="020B0604020202020204" pitchFamily="34" charset="0"/>
                <a:cs typeface="Arial Narrow" panose="020B0604020202020204" pitchFamily="34" charset="0"/>
              </a:rPr>
              <a:t>Figure 1. A brief description so someone can understand the figure if you aren’t there to explain it. Make sure the figure font is legible when printed!  [36pt Arial Narrow].</a:t>
            </a:r>
          </a:p>
        </p:txBody>
      </p:sp>
      <p:pic>
        <p:nvPicPr>
          <p:cNvPr id="34" name="Picture 33">
            <a:extLst>
              <a:ext uri="{FF2B5EF4-FFF2-40B4-BE49-F238E27FC236}">
                <a16:creationId xmlns:a16="http://schemas.microsoft.com/office/drawing/2014/main" id="{930F7C07-D53E-4B48-B4AC-9677DB80F6C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542295" y="13095259"/>
            <a:ext cx="14358034" cy="12678539"/>
          </a:xfrm>
          <a:prstGeom prst="rect">
            <a:avLst/>
          </a:prstGeom>
        </p:spPr>
      </p:pic>
      <p:sp>
        <p:nvSpPr>
          <p:cNvPr id="35" name="TextBox 34">
            <a:extLst>
              <a:ext uri="{FF2B5EF4-FFF2-40B4-BE49-F238E27FC236}">
                <a16:creationId xmlns:a16="http://schemas.microsoft.com/office/drawing/2014/main" id="{878DA511-8C7C-3445-B89D-71AC3B9C9F02}"/>
              </a:ext>
            </a:extLst>
          </p:cNvPr>
          <p:cNvSpPr txBox="1"/>
          <p:nvPr userDrawn="1"/>
        </p:nvSpPr>
        <p:spPr>
          <a:xfrm>
            <a:off x="14970033" y="25924835"/>
            <a:ext cx="13585375" cy="2862322"/>
          </a:xfrm>
          <a:prstGeom prst="rect">
            <a:avLst/>
          </a:prstGeom>
          <a:noFill/>
        </p:spPr>
        <p:txBody>
          <a:bodyPr wrap="square" rtlCol="0">
            <a:spAutoFit/>
          </a:bodyPr>
          <a:lstStyle/>
          <a:p>
            <a:pPr algn="just"/>
            <a:r>
              <a:rPr lang="en-US" sz="3600" b="0" i="0" dirty="0">
                <a:latin typeface="Arial Narrow" panose="020B0604020202020204" pitchFamily="34" charset="0"/>
                <a:cs typeface="Arial Narrow" panose="020B0604020202020204" pitchFamily="34" charset="0"/>
              </a:rPr>
              <a:t>Figure 2. a.) Figures and tables are essential to have in this section. Spending time on appealing, informative figures is worthwhile. Tables can be helpful but often that data is better portrayed in a figure/plot, especially if it is a larger table filled with numbers. b.) Multi-panel figures work well when the information is tied together. c.) Make sure to talk about each figure. [36pt Arial Narrow].</a:t>
            </a:r>
            <a:endParaRPr lang="en-US" sz="5600" b="0" i="0" dirty="0">
              <a:latin typeface="Arial Narrow" panose="020B0604020202020204" pitchFamily="34" charset="0"/>
              <a:cs typeface="Arial Narrow" panose="020B0604020202020204" pitchFamily="34" charset="0"/>
            </a:endParaRPr>
          </a:p>
        </p:txBody>
      </p:sp>
      <p:sp>
        <p:nvSpPr>
          <p:cNvPr id="36" name="TextBox 35">
            <a:extLst>
              <a:ext uri="{FF2B5EF4-FFF2-40B4-BE49-F238E27FC236}">
                <a16:creationId xmlns:a16="http://schemas.microsoft.com/office/drawing/2014/main" id="{BA58E32B-0420-F74B-B413-0C8EDC3F765A}"/>
              </a:ext>
            </a:extLst>
          </p:cNvPr>
          <p:cNvSpPr txBox="1"/>
          <p:nvPr userDrawn="1"/>
        </p:nvSpPr>
        <p:spPr>
          <a:xfrm>
            <a:off x="29717995" y="6857121"/>
            <a:ext cx="13585375" cy="9694962"/>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800" b="0" i="0" dirty="0">
                <a:latin typeface="Arial Narrow" panose="020B0604020202020204" pitchFamily="34" charset="0"/>
                <a:cs typeface="Arial Narrow" panose="020B0604020202020204" pitchFamily="34" charset="0"/>
              </a:rPr>
              <a:t>What do your results mean? This section can be closely tied with ”Future Directions” and you may not need to separate them into different sections. Some general rules for any section:</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Lists/bullet points can be nice. Concise language is best.</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White space makes the poster look less busy, and usually more appealing to the audience.</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Stick to 3 or less main colors if possible.</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Be consistent with fonts and section sizes</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Make sure figure text is legible</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This example poster has a LOT of text. Try to make your poster have less.  Figures &gt; text. </a:t>
            </a:r>
          </a:p>
        </p:txBody>
      </p:sp>
      <p:sp>
        <p:nvSpPr>
          <p:cNvPr id="37" name="Rectangle 36">
            <a:extLst>
              <a:ext uri="{FF2B5EF4-FFF2-40B4-BE49-F238E27FC236}">
                <a16:creationId xmlns:a16="http://schemas.microsoft.com/office/drawing/2014/main" id="{23460FE6-35E3-3B43-9CDF-779021D35E42}"/>
              </a:ext>
            </a:extLst>
          </p:cNvPr>
          <p:cNvSpPr/>
          <p:nvPr userDrawn="1"/>
        </p:nvSpPr>
        <p:spPr>
          <a:xfrm>
            <a:off x="29717994" y="19037740"/>
            <a:ext cx="13585375" cy="4524315"/>
          </a:xfrm>
          <a:prstGeom prst="rect">
            <a:avLst/>
          </a:prstGeom>
        </p:spPr>
        <p:txBody>
          <a:bodyPr wrap="square">
            <a:spAutoFit/>
          </a:bodyPr>
          <a:lstStyle/>
          <a:p>
            <a:r>
              <a:rPr lang="en-US" sz="4800" b="0" i="0" dirty="0">
                <a:latin typeface="Arial Narrow" panose="020B0604020202020204" pitchFamily="34" charset="0"/>
                <a:cs typeface="Arial Narrow" panose="020B0604020202020204" pitchFamily="34" charset="0"/>
              </a:rPr>
              <a:t>You do not have to restrain yourself to these typical section titles. You can be more description, which ends up saving word-space as well. For example, instead of “Main Findings” you could make that heading “Truncation Schemes Alter Optimized Positions”, or something that concisely explains the main takeaway of that section.</a:t>
            </a:r>
            <a:endParaRPr lang="en-US" sz="4800" dirty="0"/>
          </a:p>
        </p:txBody>
      </p:sp>
      <p:sp>
        <p:nvSpPr>
          <p:cNvPr id="38" name="Rectangle 37">
            <a:extLst>
              <a:ext uri="{FF2B5EF4-FFF2-40B4-BE49-F238E27FC236}">
                <a16:creationId xmlns:a16="http://schemas.microsoft.com/office/drawing/2014/main" id="{A7A85601-7ADD-1349-B067-010F1320F163}"/>
              </a:ext>
            </a:extLst>
          </p:cNvPr>
          <p:cNvSpPr/>
          <p:nvPr userDrawn="1"/>
        </p:nvSpPr>
        <p:spPr>
          <a:xfrm>
            <a:off x="29548183" y="26357855"/>
            <a:ext cx="13585375" cy="3046988"/>
          </a:xfrm>
          <a:prstGeom prst="rect">
            <a:avLst/>
          </a:prstGeom>
        </p:spPr>
        <p:txBody>
          <a:bodyPr wrap="square">
            <a:spAutoFit/>
          </a:bodyPr>
          <a:lstStyle/>
          <a:p>
            <a:r>
              <a:rPr lang="en-US" sz="4800" b="0" i="0" dirty="0">
                <a:latin typeface="Arial Narrow" panose="020B0604020202020204" pitchFamily="34" charset="0"/>
                <a:cs typeface="Arial Narrow" panose="020B0604020202020204" pitchFamily="34" charset="0"/>
              </a:rPr>
              <a:t>You probably want to thank your research advisor and any other mentors. This is also the space to list any scholarships/internships/funding that in anyway made it easier/possible for you to do undergraduate research.</a:t>
            </a:r>
            <a:endParaRPr lang="en-US" sz="4800" dirty="0"/>
          </a:p>
        </p:txBody>
      </p:sp>
      <p:cxnSp>
        <p:nvCxnSpPr>
          <p:cNvPr id="39" name="Straight Connector 38">
            <a:extLst>
              <a:ext uri="{FF2B5EF4-FFF2-40B4-BE49-F238E27FC236}">
                <a16:creationId xmlns:a16="http://schemas.microsoft.com/office/drawing/2014/main" id="{7EF8B3B7-CEB3-3042-B3A3-C2BDE971DFF9}"/>
              </a:ext>
            </a:extLst>
          </p:cNvPr>
          <p:cNvCxnSpPr>
            <a:cxnSpLocks/>
          </p:cNvCxnSpPr>
          <p:nvPr userDrawn="1"/>
        </p:nvCxnSpPr>
        <p:spPr>
          <a:xfrm>
            <a:off x="14303825" y="4389120"/>
            <a:ext cx="97975" cy="25085834"/>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2A9F20E-AC41-AB43-B46F-1A38CA51B3A4}"/>
              </a:ext>
            </a:extLst>
          </p:cNvPr>
          <p:cNvCxnSpPr>
            <a:cxnSpLocks/>
          </p:cNvCxnSpPr>
          <p:nvPr userDrawn="1"/>
        </p:nvCxnSpPr>
        <p:spPr>
          <a:xfrm>
            <a:off x="28956000" y="4389120"/>
            <a:ext cx="0" cy="25085834"/>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FCFD6D0A-DEDC-244E-A9B2-E0802616BE14}"/>
              </a:ext>
            </a:extLst>
          </p:cNvPr>
          <p:cNvSpPr txBox="1"/>
          <p:nvPr userDrawn="1"/>
        </p:nvSpPr>
        <p:spPr>
          <a:xfrm>
            <a:off x="289989" y="30480597"/>
            <a:ext cx="17179830" cy="1754326"/>
          </a:xfrm>
          <a:prstGeom prst="rect">
            <a:avLst/>
          </a:prstGeom>
          <a:noFill/>
        </p:spPr>
        <p:txBody>
          <a:bodyPr wrap="square" rtlCol="0">
            <a:spAutoFit/>
          </a:bodyPr>
          <a:lstStyle/>
          <a:p>
            <a:pPr algn="just"/>
            <a:r>
              <a:rPr lang="en-US" sz="3600" b="0" i="0" dirty="0">
                <a:latin typeface="Arial Narrow" panose="020B0604020202020204" pitchFamily="34" charset="0"/>
                <a:cs typeface="Arial Narrow" panose="020B0604020202020204" pitchFamily="34" charset="0"/>
              </a:rPr>
              <a:t>Citations can go here. It is common to have 1-5 citations in the background and significance and methods/experiments sections. Follow the citation format that is most common in your field. [36pt Arial] </a:t>
            </a:r>
          </a:p>
        </p:txBody>
      </p:sp>
      <p:sp>
        <p:nvSpPr>
          <p:cNvPr id="48" name="Rectangle 47">
            <a:extLst>
              <a:ext uri="{FF2B5EF4-FFF2-40B4-BE49-F238E27FC236}">
                <a16:creationId xmlns:a16="http://schemas.microsoft.com/office/drawing/2014/main" id="{8B475592-D680-A04C-B3D8-0415C44A7703}"/>
              </a:ext>
            </a:extLst>
          </p:cNvPr>
          <p:cNvSpPr/>
          <p:nvPr userDrawn="1"/>
        </p:nvSpPr>
        <p:spPr>
          <a:xfrm>
            <a:off x="1" y="2665531"/>
            <a:ext cx="43891199" cy="830997"/>
          </a:xfrm>
          <a:prstGeom prst="rect">
            <a:avLst/>
          </a:prstGeom>
        </p:spPr>
        <p:txBody>
          <a:bodyPr wrap="square">
            <a:spAutoFit/>
          </a:bodyPr>
          <a:lstStyle/>
          <a:p>
            <a:pPr algn="ctr"/>
            <a:r>
              <a:rPr lang="en-US" sz="4800" b="1" i="0" dirty="0">
                <a:latin typeface="Arial Narrow" panose="020B0604020202020204" pitchFamily="34" charset="0"/>
                <a:cs typeface="Arial Narrow" panose="020B0604020202020204" pitchFamily="34" charset="0"/>
              </a:rPr>
              <a:t>College of ???</a:t>
            </a:r>
          </a:p>
        </p:txBody>
      </p:sp>
    </p:spTree>
    <p:extLst>
      <p:ext uri="{BB962C8B-B14F-4D97-AF65-F5344CB8AC3E}">
        <p14:creationId xmlns:p14="http://schemas.microsoft.com/office/powerpoint/2010/main" val="1909883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232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xampl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815CB8-A050-E546-AE4E-4327916B3092}"/>
              </a:ext>
            </a:extLst>
          </p:cNvPr>
          <p:cNvSpPr txBox="1"/>
          <p:nvPr userDrawn="1"/>
        </p:nvSpPr>
        <p:spPr>
          <a:xfrm>
            <a:off x="5537202" y="1828801"/>
            <a:ext cx="184731" cy="1209242"/>
          </a:xfrm>
          <a:prstGeom prst="rect">
            <a:avLst/>
          </a:prstGeom>
          <a:noFill/>
        </p:spPr>
        <p:txBody>
          <a:bodyPr wrap="none" rtlCol="0">
            <a:spAutoFit/>
          </a:bodyPr>
          <a:lstStyle/>
          <a:p>
            <a:endParaRPr lang="en-US" sz="7258" dirty="0"/>
          </a:p>
        </p:txBody>
      </p:sp>
      <p:sp>
        <p:nvSpPr>
          <p:cNvPr id="8" name="Rectangle 7">
            <a:extLst>
              <a:ext uri="{FF2B5EF4-FFF2-40B4-BE49-F238E27FC236}">
                <a16:creationId xmlns:a16="http://schemas.microsoft.com/office/drawing/2014/main" id="{80E24522-D356-574A-9582-26DAE0BCB1EA}"/>
              </a:ext>
            </a:extLst>
          </p:cNvPr>
          <p:cNvSpPr/>
          <p:nvPr userDrawn="1"/>
        </p:nvSpPr>
        <p:spPr>
          <a:xfrm>
            <a:off x="14983091" y="2734407"/>
            <a:ext cx="16609429" cy="1569660"/>
          </a:xfrm>
          <a:prstGeom prst="rect">
            <a:avLst/>
          </a:prstGeom>
        </p:spPr>
        <p:txBody>
          <a:bodyPr wrap="square">
            <a:spAutoFit/>
          </a:bodyPr>
          <a:lstStyle/>
          <a:p>
            <a:pPr algn="ctr"/>
            <a:r>
              <a:rPr lang="en-US" sz="4800" b="1" i="1" dirty="0">
                <a:latin typeface="Arial Narrow" panose="020B0604020202020204" pitchFamily="34" charset="0"/>
                <a:cs typeface="Arial Narrow" panose="020B0604020202020204" pitchFamily="34" charset="0"/>
              </a:rPr>
              <a:t>Presenter First Last, </a:t>
            </a:r>
            <a:r>
              <a:rPr lang="en-US" sz="4800" b="0" i="1" dirty="0">
                <a:latin typeface="Arial Narrow" panose="020B0604020202020204" pitchFamily="34" charset="0"/>
                <a:cs typeface="Arial Narrow" panose="020B0604020202020204" pitchFamily="34" charset="0"/>
              </a:rPr>
              <a:t>Author 2, Author 3,… Professor First Last [48pt, Arial Narrow Italic] </a:t>
            </a:r>
          </a:p>
        </p:txBody>
      </p:sp>
      <p:sp>
        <p:nvSpPr>
          <p:cNvPr id="9" name="TextBox 8">
            <a:extLst>
              <a:ext uri="{FF2B5EF4-FFF2-40B4-BE49-F238E27FC236}">
                <a16:creationId xmlns:a16="http://schemas.microsoft.com/office/drawing/2014/main" id="{A9F30EC3-6F46-7647-81F0-F4A491B29667}"/>
              </a:ext>
            </a:extLst>
          </p:cNvPr>
          <p:cNvSpPr txBox="1"/>
          <p:nvPr userDrawn="1"/>
        </p:nvSpPr>
        <p:spPr>
          <a:xfrm>
            <a:off x="391883" y="399175"/>
            <a:ext cx="43891198" cy="1631216"/>
          </a:xfrm>
          <a:prstGeom prst="rect">
            <a:avLst/>
          </a:prstGeom>
          <a:noFill/>
        </p:spPr>
        <p:txBody>
          <a:bodyPr wrap="square" rtlCol="0">
            <a:spAutoFit/>
          </a:bodyPr>
          <a:lstStyle/>
          <a:p>
            <a:pPr algn="ctr"/>
            <a:r>
              <a:rPr lang="en-US" sz="10000" b="1" i="0" dirty="0">
                <a:latin typeface="Arial Narrow" panose="020B0604020202020204" pitchFamily="34" charset="0"/>
                <a:cs typeface="Arial Narrow" panose="020B0604020202020204" pitchFamily="34" charset="0"/>
              </a:rPr>
              <a:t>Eye-Catching, Informative Title [100pt, Arial Narrow Bold]</a:t>
            </a:r>
          </a:p>
        </p:txBody>
      </p:sp>
      <p:sp>
        <p:nvSpPr>
          <p:cNvPr id="10" name="TextBox 9">
            <a:extLst>
              <a:ext uri="{FF2B5EF4-FFF2-40B4-BE49-F238E27FC236}">
                <a16:creationId xmlns:a16="http://schemas.microsoft.com/office/drawing/2014/main" id="{E6CAA198-4223-8A4C-8C50-5D8B7047161C}"/>
              </a:ext>
            </a:extLst>
          </p:cNvPr>
          <p:cNvSpPr txBox="1"/>
          <p:nvPr userDrawn="1"/>
        </p:nvSpPr>
        <p:spPr>
          <a:xfrm>
            <a:off x="91440" y="6189042"/>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Background and Significance </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1" name="TextBox 10">
            <a:extLst>
              <a:ext uri="{FF2B5EF4-FFF2-40B4-BE49-F238E27FC236}">
                <a16:creationId xmlns:a16="http://schemas.microsoft.com/office/drawing/2014/main" id="{1E17166B-5AD4-0440-BB0F-4A833846BFD9}"/>
              </a:ext>
            </a:extLst>
          </p:cNvPr>
          <p:cNvSpPr txBox="1"/>
          <p:nvPr userDrawn="1"/>
        </p:nvSpPr>
        <p:spPr>
          <a:xfrm>
            <a:off x="26122" y="23968142"/>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Methods/Techniques/Experiments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2" name="TextBox 11">
            <a:extLst>
              <a:ext uri="{FF2B5EF4-FFF2-40B4-BE49-F238E27FC236}">
                <a16:creationId xmlns:a16="http://schemas.microsoft.com/office/drawing/2014/main" id="{ADFF074D-A918-2B47-9A63-DEAD8654EF7A}"/>
              </a:ext>
            </a:extLst>
          </p:cNvPr>
          <p:cNvSpPr txBox="1"/>
          <p:nvPr userDrawn="1"/>
        </p:nvSpPr>
        <p:spPr>
          <a:xfrm>
            <a:off x="14591208" y="6189042"/>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Main Findings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3" name="TextBox 12">
            <a:extLst>
              <a:ext uri="{FF2B5EF4-FFF2-40B4-BE49-F238E27FC236}">
                <a16:creationId xmlns:a16="http://schemas.microsoft.com/office/drawing/2014/main" id="{3AC0925A-AFE6-B644-8021-72F675417BCD}"/>
              </a:ext>
            </a:extLst>
          </p:cNvPr>
          <p:cNvSpPr txBox="1"/>
          <p:nvPr userDrawn="1"/>
        </p:nvSpPr>
        <p:spPr>
          <a:xfrm>
            <a:off x="29352240" y="6189042"/>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Results and Conclusions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4" name="TextBox 13">
            <a:extLst>
              <a:ext uri="{FF2B5EF4-FFF2-40B4-BE49-F238E27FC236}">
                <a16:creationId xmlns:a16="http://schemas.microsoft.com/office/drawing/2014/main" id="{3ED82B0D-323E-9E49-B321-0546DDB5DA6D}"/>
              </a:ext>
            </a:extLst>
          </p:cNvPr>
          <p:cNvSpPr txBox="1"/>
          <p:nvPr userDrawn="1"/>
        </p:nvSpPr>
        <p:spPr>
          <a:xfrm>
            <a:off x="29352239" y="18846951"/>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Future Directions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5" name="TextBox 14">
            <a:extLst>
              <a:ext uri="{FF2B5EF4-FFF2-40B4-BE49-F238E27FC236}">
                <a16:creationId xmlns:a16="http://schemas.microsoft.com/office/drawing/2014/main" id="{701874EA-62D4-EE40-9F36-A09513A2EBD8}"/>
              </a:ext>
            </a:extLst>
          </p:cNvPr>
          <p:cNvSpPr txBox="1"/>
          <p:nvPr userDrawn="1"/>
        </p:nvSpPr>
        <p:spPr>
          <a:xfrm>
            <a:off x="29417552" y="26342578"/>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Acknowledgements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6" name="TextBox 15">
            <a:extLst>
              <a:ext uri="{FF2B5EF4-FFF2-40B4-BE49-F238E27FC236}">
                <a16:creationId xmlns:a16="http://schemas.microsoft.com/office/drawing/2014/main" id="{5B177E63-1B0B-614E-8D5B-86935DBAAD47}"/>
              </a:ext>
            </a:extLst>
          </p:cNvPr>
          <p:cNvSpPr txBox="1"/>
          <p:nvPr userDrawn="1"/>
        </p:nvSpPr>
        <p:spPr>
          <a:xfrm>
            <a:off x="418007" y="8547678"/>
            <a:ext cx="13585375" cy="4647426"/>
          </a:xfrm>
          <a:prstGeom prst="rect">
            <a:avLst/>
          </a:prstGeom>
          <a:noFill/>
        </p:spPr>
        <p:txBody>
          <a:bodyPr wrap="square" rtlCol="0">
            <a:spAutoFit/>
          </a:bodyPr>
          <a:lstStyle/>
          <a:p>
            <a:pPr algn="just"/>
            <a:r>
              <a:rPr lang="en-US" sz="4800" b="0" i="0" dirty="0">
                <a:latin typeface="Arial Narrow" panose="020B0604020202020204" pitchFamily="34" charset="0"/>
                <a:cs typeface="Arial Narrow" panose="020B0604020202020204" pitchFamily="34" charset="0"/>
              </a:rPr>
              <a:t>What background information might the audience need to know in order to understand your research? What are the questions you hope to address with your research? What are your hypotheses? What is the impact of this work? [48pt Arial Narrow].</a:t>
            </a:r>
          </a:p>
          <a:p>
            <a:pPr algn="just"/>
            <a:endParaRPr lang="en-US" sz="5600" b="0" i="0" dirty="0">
              <a:latin typeface="Arial Narrow" panose="020B0604020202020204" pitchFamily="34" charset="0"/>
              <a:cs typeface="Arial Narrow" panose="020B0604020202020204" pitchFamily="34" charset="0"/>
            </a:endParaRPr>
          </a:p>
        </p:txBody>
      </p:sp>
      <p:sp>
        <p:nvSpPr>
          <p:cNvPr id="17" name="TextBox 16">
            <a:extLst>
              <a:ext uri="{FF2B5EF4-FFF2-40B4-BE49-F238E27FC236}">
                <a16:creationId xmlns:a16="http://schemas.microsoft.com/office/drawing/2014/main" id="{53EDE1AA-8056-3A49-8196-B50640CAC550}"/>
              </a:ext>
            </a:extLst>
          </p:cNvPr>
          <p:cNvSpPr txBox="1"/>
          <p:nvPr userDrawn="1"/>
        </p:nvSpPr>
        <p:spPr>
          <a:xfrm>
            <a:off x="483323" y="26542134"/>
            <a:ext cx="13585375" cy="3785652"/>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800" b="0" i="0" dirty="0">
                <a:latin typeface="Arial Narrow" panose="020B0604020202020204" pitchFamily="34" charset="0"/>
                <a:cs typeface="Arial Narrow" panose="020B0604020202020204" pitchFamily="34" charset="0"/>
              </a:rPr>
              <a:t>What is your approach to answering the research questions/ testing your hypotheses? How does this method work? Do you have to use this method in a novel way? You could have pictures here if the particular method is really important to understanding the results. [48pt Arial Narrow].</a:t>
            </a:r>
          </a:p>
        </p:txBody>
      </p:sp>
      <p:sp>
        <p:nvSpPr>
          <p:cNvPr id="18" name="TextBox 17">
            <a:extLst>
              <a:ext uri="{FF2B5EF4-FFF2-40B4-BE49-F238E27FC236}">
                <a16:creationId xmlns:a16="http://schemas.microsoft.com/office/drawing/2014/main" id="{BAEE6604-532F-5A4C-B341-2E22D477CE91}"/>
              </a:ext>
            </a:extLst>
          </p:cNvPr>
          <p:cNvSpPr txBox="1"/>
          <p:nvPr userDrawn="1"/>
        </p:nvSpPr>
        <p:spPr>
          <a:xfrm>
            <a:off x="14983091" y="8946111"/>
            <a:ext cx="13585375" cy="6001643"/>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800" b="0" i="0" dirty="0">
                <a:latin typeface="Arial Narrow" panose="020B0604020202020204" pitchFamily="34" charset="0"/>
                <a:cs typeface="Arial Narrow" panose="020B0604020202020204" pitchFamily="34" charset="0"/>
              </a:rPr>
              <a:t>What are the results from the performed experiments? If you haven’t quite completed some of the experiments, what are the possible results, and what would they mean? This section is usually in the center of the board to emphasize it. Make sure you articulate your results clearly and with enthusiasm! </a:t>
            </a:r>
            <a:r>
              <a:rPr lang="en-US" sz="4800" b="1" i="0" dirty="0">
                <a:latin typeface="Arial Narrow" panose="020B0604020202020204" pitchFamily="34" charset="0"/>
                <a:cs typeface="Arial Narrow" panose="020B0604020202020204" pitchFamily="34" charset="0"/>
              </a:rPr>
              <a:t>You can always bold sentences to really emphasize importance. Try to limit words. Figures are more informative and appealing. </a:t>
            </a:r>
            <a:r>
              <a:rPr lang="en-US" sz="4800" b="0" i="0" dirty="0">
                <a:latin typeface="Arial Narrow" panose="020B0604020202020204" pitchFamily="34" charset="0"/>
                <a:cs typeface="Arial Narrow" panose="020B0604020202020204" pitchFamily="34" charset="0"/>
              </a:rPr>
              <a:t>[48pt Arial Narrow].</a:t>
            </a:r>
            <a:r>
              <a:rPr lang="en-US" sz="4800" b="1" i="0" dirty="0">
                <a:latin typeface="Arial Narrow" panose="020B0604020202020204" pitchFamily="34" charset="0"/>
                <a:cs typeface="Arial Narrow" panose="020B0604020202020204" pitchFamily="34" charset="0"/>
              </a:rPr>
              <a:t> </a:t>
            </a:r>
          </a:p>
        </p:txBody>
      </p:sp>
      <p:pic>
        <p:nvPicPr>
          <p:cNvPr id="19" name="Picture 18">
            <a:extLst>
              <a:ext uri="{FF2B5EF4-FFF2-40B4-BE49-F238E27FC236}">
                <a16:creationId xmlns:a16="http://schemas.microsoft.com/office/drawing/2014/main" id="{DD921705-1D79-BF4A-B56C-98D37AFD79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19754" y="12662941"/>
            <a:ext cx="11353614" cy="9149029"/>
          </a:xfrm>
          <a:prstGeom prst="rect">
            <a:avLst/>
          </a:prstGeom>
        </p:spPr>
      </p:pic>
      <p:sp>
        <p:nvSpPr>
          <p:cNvPr id="20" name="TextBox 19">
            <a:extLst>
              <a:ext uri="{FF2B5EF4-FFF2-40B4-BE49-F238E27FC236}">
                <a16:creationId xmlns:a16="http://schemas.microsoft.com/office/drawing/2014/main" id="{289DEAC2-A14B-3848-90F0-58DD5F407D70}"/>
              </a:ext>
            </a:extLst>
          </p:cNvPr>
          <p:cNvSpPr txBox="1"/>
          <p:nvPr userDrawn="1"/>
        </p:nvSpPr>
        <p:spPr>
          <a:xfrm>
            <a:off x="483323" y="21800205"/>
            <a:ext cx="13585375" cy="1754326"/>
          </a:xfrm>
          <a:prstGeom prst="rect">
            <a:avLst/>
          </a:prstGeom>
          <a:noFill/>
        </p:spPr>
        <p:txBody>
          <a:bodyPr wrap="square" rtlCol="0">
            <a:spAutoFit/>
          </a:bodyPr>
          <a:lstStyle/>
          <a:p>
            <a:pPr algn="just"/>
            <a:r>
              <a:rPr lang="en-US" sz="3600" b="0" i="0" dirty="0">
                <a:latin typeface="Arial Narrow" panose="020B0604020202020204" pitchFamily="34" charset="0"/>
                <a:cs typeface="Arial Narrow" panose="020B0604020202020204" pitchFamily="34" charset="0"/>
              </a:rPr>
              <a:t>Figure 1. A brief description so someone can understand the figure if you aren’t there to explain it. Make sure the figure font is legible when printed!  [36pt Arial Narrow].</a:t>
            </a:r>
          </a:p>
        </p:txBody>
      </p:sp>
      <p:pic>
        <p:nvPicPr>
          <p:cNvPr id="21" name="Picture 20">
            <a:extLst>
              <a:ext uri="{FF2B5EF4-FFF2-40B4-BE49-F238E27FC236}">
                <a16:creationId xmlns:a16="http://schemas.microsoft.com/office/drawing/2014/main" id="{4A4F892F-7C1E-574A-8DB0-0F2DA1C4563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633735" y="15579379"/>
            <a:ext cx="14358034" cy="12678539"/>
          </a:xfrm>
          <a:prstGeom prst="rect">
            <a:avLst/>
          </a:prstGeom>
        </p:spPr>
      </p:pic>
      <p:sp>
        <p:nvSpPr>
          <p:cNvPr id="22" name="TextBox 21">
            <a:extLst>
              <a:ext uri="{FF2B5EF4-FFF2-40B4-BE49-F238E27FC236}">
                <a16:creationId xmlns:a16="http://schemas.microsoft.com/office/drawing/2014/main" id="{882290E5-AB34-384B-81F6-B390BAE78523}"/>
              </a:ext>
            </a:extLst>
          </p:cNvPr>
          <p:cNvSpPr txBox="1"/>
          <p:nvPr userDrawn="1"/>
        </p:nvSpPr>
        <p:spPr>
          <a:xfrm>
            <a:off x="15061473" y="28652795"/>
            <a:ext cx="13585375" cy="2862322"/>
          </a:xfrm>
          <a:prstGeom prst="rect">
            <a:avLst/>
          </a:prstGeom>
          <a:noFill/>
        </p:spPr>
        <p:txBody>
          <a:bodyPr wrap="square" rtlCol="0">
            <a:spAutoFit/>
          </a:bodyPr>
          <a:lstStyle/>
          <a:p>
            <a:pPr algn="just"/>
            <a:r>
              <a:rPr lang="en-US" sz="3600" b="0" i="0" dirty="0">
                <a:latin typeface="Arial Narrow" panose="020B0604020202020204" pitchFamily="34" charset="0"/>
                <a:cs typeface="Arial Narrow" panose="020B0604020202020204" pitchFamily="34" charset="0"/>
              </a:rPr>
              <a:t>Figure 2. a.) Figures and tables are essential to have in this section. Spending time on appealing, informative figures is worthwhile. Tables can be helpful but often that data is better portrayed in a figure/plot, especially if it is a larger table filled with numbers. b.) Multi-panel figures work well when the information is tied together. c.) Make sure to talk about each figure. [36pt Arial Narrow].</a:t>
            </a:r>
            <a:endParaRPr lang="en-US" sz="5600" b="0" i="0" dirty="0">
              <a:latin typeface="Arial Narrow" panose="020B0604020202020204" pitchFamily="34" charset="0"/>
              <a:cs typeface="Arial Narrow" panose="020B0604020202020204" pitchFamily="34" charset="0"/>
            </a:endParaRPr>
          </a:p>
        </p:txBody>
      </p:sp>
      <p:sp>
        <p:nvSpPr>
          <p:cNvPr id="23" name="TextBox 22">
            <a:extLst>
              <a:ext uri="{FF2B5EF4-FFF2-40B4-BE49-F238E27FC236}">
                <a16:creationId xmlns:a16="http://schemas.microsoft.com/office/drawing/2014/main" id="{D65696FC-A4A5-F64D-8921-8B8EAD433F99}"/>
              </a:ext>
            </a:extLst>
          </p:cNvPr>
          <p:cNvSpPr txBox="1"/>
          <p:nvPr userDrawn="1"/>
        </p:nvSpPr>
        <p:spPr>
          <a:xfrm>
            <a:off x="29809435" y="8914521"/>
            <a:ext cx="13585375" cy="9694962"/>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800" b="0" i="0" dirty="0">
                <a:latin typeface="Arial Narrow" panose="020B0604020202020204" pitchFamily="34" charset="0"/>
                <a:cs typeface="Arial Narrow" panose="020B0604020202020204" pitchFamily="34" charset="0"/>
              </a:rPr>
              <a:t>What do your results mean? This section can be closely tied with ”Future Directions” and you may not need to separate them into different sections. Some general rules for any section:</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Lists/bullet points can be nice. Concise language is best.</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White space makes the poster look less busy, and usually more appealing to the audience.</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Stick to 3 or less main colors if possible.</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Be consistent with fonts and section sizes</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Make sure figure text is legible</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This example poster has a LOT of text. Try to make your poster have less.  Figures &gt; text. </a:t>
            </a:r>
          </a:p>
        </p:txBody>
      </p:sp>
      <p:sp>
        <p:nvSpPr>
          <p:cNvPr id="24" name="Rectangle 23">
            <a:extLst>
              <a:ext uri="{FF2B5EF4-FFF2-40B4-BE49-F238E27FC236}">
                <a16:creationId xmlns:a16="http://schemas.microsoft.com/office/drawing/2014/main" id="{B71B1CD8-2441-7345-A1C5-E29AAA905923}"/>
              </a:ext>
            </a:extLst>
          </p:cNvPr>
          <p:cNvSpPr/>
          <p:nvPr userDrawn="1"/>
        </p:nvSpPr>
        <p:spPr>
          <a:xfrm>
            <a:off x="29809434" y="21338980"/>
            <a:ext cx="13585375" cy="4524315"/>
          </a:xfrm>
          <a:prstGeom prst="rect">
            <a:avLst/>
          </a:prstGeom>
        </p:spPr>
        <p:txBody>
          <a:bodyPr wrap="square">
            <a:spAutoFit/>
          </a:bodyPr>
          <a:lstStyle/>
          <a:p>
            <a:r>
              <a:rPr lang="en-US" sz="4800" b="0" i="0" dirty="0">
                <a:latin typeface="Arial Narrow" panose="020B0604020202020204" pitchFamily="34" charset="0"/>
                <a:cs typeface="Arial Narrow" panose="020B0604020202020204" pitchFamily="34" charset="0"/>
              </a:rPr>
              <a:t>You do not have to restrain yourself to these typical section titles. You can be more description, which ends up saving word-space as well. For example, instead of “Main Findings” you could make that heading “Truncation Schemes Alter Optimized Positions”, or something that concisely explains the main takeaway of that section.</a:t>
            </a:r>
            <a:endParaRPr lang="en-US" sz="4800" dirty="0"/>
          </a:p>
        </p:txBody>
      </p:sp>
      <p:sp>
        <p:nvSpPr>
          <p:cNvPr id="25" name="Rectangle 24">
            <a:extLst>
              <a:ext uri="{FF2B5EF4-FFF2-40B4-BE49-F238E27FC236}">
                <a16:creationId xmlns:a16="http://schemas.microsoft.com/office/drawing/2014/main" id="{E8251042-1698-EB48-A256-BD253E11BC7A}"/>
              </a:ext>
            </a:extLst>
          </p:cNvPr>
          <p:cNvSpPr/>
          <p:nvPr userDrawn="1"/>
        </p:nvSpPr>
        <p:spPr>
          <a:xfrm>
            <a:off x="29639623" y="28902935"/>
            <a:ext cx="13585375" cy="3046988"/>
          </a:xfrm>
          <a:prstGeom prst="rect">
            <a:avLst/>
          </a:prstGeom>
        </p:spPr>
        <p:txBody>
          <a:bodyPr wrap="square">
            <a:spAutoFit/>
          </a:bodyPr>
          <a:lstStyle/>
          <a:p>
            <a:r>
              <a:rPr lang="en-US" sz="4800" b="0" i="0" dirty="0">
                <a:latin typeface="Arial Narrow" panose="020B0604020202020204" pitchFamily="34" charset="0"/>
                <a:cs typeface="Arial Narrow" panose="020B0604020202020204" pitchFamily="34" charset="0"/>
              </a:rPr>
              <a:t>You probably want to thank your research advisor and any other mentors. This is also the space to list any scholarships/internships/funding that in anyway made it easier/possible for you to do undergraduate research.</a:t>
            </a:r>
            <a:endParaRPr lang="en-US" sz="4800" dirty="0"/>
          </a:p>
        </p:txBody>
      </p:sp>
      <p:cxnSp>
        <p:nvCxnSpPr>
          <p:cNvPr id="26" name="Straight Connector 25">
            <a:extLst>
              <a:ext uri="{FF2B5EF4-FFF2-40B4-BE49-F238E27FC236}">
                <a16:creationId xmlns:a16="http://schemas.microsoft.com/office/drawing/2014/main" id="{28E417F4-D4B9-B844-9A7E-FE793FA2B212}"/>
              </a:ext>
            </a:extLst>
          </p:cNvPr>
          <p:cNvCxnSpPr>
            <a:cxnSpLocks/>
          </p:cNvCxnSpPr>
          <p:nvPr userDrawn="1"/>
        </p:nvCxnSpPr>
        <p:spPr>
          <a:xfrm flipH="1">
            <a:off x="14395264" y="6128082"/>
            <a:ext cx="2" cy="26058798"/>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F314E48-7FB7-4242-AD70-432B5789907A}"/>
              </a:ext>
            </a:extLst>
          </p:cNvPr>
          <p:cNvCxnSpPr>
            <a:cxnSpLocks/>
          </p:cNvCxnSpPr>
          <p:nvPr userDrawn="1"/>
        </p:nvCxnSpPr>
        <p:spPr>
          <a:xfrm>
            <a:off x="28991769" y="6128082"/>
            <a:ext cx="0" cy="26058798"/>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23907AF-6DFB-B247-85AD-827267040FD2}"/>
              </a:ext>
            </a:extLst>
          </p:cNvPr>
          <p:cNvSpPr txBox="1"/>
          <p:nvPr userDrawn="1"/>
        </p:nvSpPr>
        <p:spPr>
          <a:xfrm>
            <a:off x="241399" y="31008739"/>
            <a:ext cx="13585376" cy="1754326"/>
          </a:xfrm>
          <a:prstGeom prst="rect">
            <a:avLst/>
          </a:prstGeom>
          <a:noFill/>
        </p:spPr>
        <p:txBody>
          <a:bodyPr wrap="square" rtlCol="0">
            <a:spAutoFit/>
          </a:bodyPr>
          <a:lstStyle/>
          <a:p>
            <a:pPr algn="just"/>
            <a:r>
              <a:rPr lang="en-US" sz="3600" b="0" i="0" dirty="0">
                <a:latin typeface="Arial Narrow" panose="020B0604020202020204" pitchFamily="34" charset="0"/>
                <a:cs typeface="Arial Narrow" panose="020B0604020202020204" pitchFamily="34" charset="0"/>
              </a:rPr>
              <a:t>Citations can go here. It is common to have 1-5 citations in the background and significance and methods/experiments sections. Follow the citation format that is most common in your field. [36pt Arial] </a:t>
            </a:r>
          </a:p>
        </p:txBody>
      </p:sp>
      <p:cxnSp>
        <p:nvCxnSpPr>
          <p:cNvPr id="35" name="Straight Connector 34">
            <a:extLst>
              <a:ext uri="{FF2B5EF4-FFF2-40B4-BE49-F238E27FC236}">
                <a16:creationId xmlns:a16="http://schemas.microsoft.com/office/drawing/2014/main" id="{9BA00EC0-217F-2044-82A1-3B8343EFB998}"/>
              </a:ext>
            </a:extLst>
          </p:cNvPr>
          <p:cNvCxnSpPr>
            <a:cxnSpLocks/>
          </p:cNvCxnSpPr>
          <p:nvPr userDrawn="1"/>
        </p:nvCxnSpPr>
        <p:spPr>
          <a:xfrm flipH="1">
            <a:off x="213360" y="30734419"/>
            <a:ext cx="13735335" cy="0"/>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E9E75EAE-C0F9-044F-8A44-D0C7478218C4}"/>
              </a:ext>
            </a:extLst>
          </p:cNvPr>
          <p:cNvSpPr/>
          <p:nvPr userDrawn="1"/>
        </p:nvSpPr>
        <p:spPr>
          <a:xfrm>
            <a:off x="14395264" y="4555291"/>
            <a:ext cx="17197248" cy="830997"/>
          </a:xfrm>
          <a:prstGeom prst="rect">
            <a:avLst/>
          </a:prstGeom>
        </p:spPr>
        <p:txBody>
          <a:bodyPr wrap="square">
            <a:spAutoFit/>
          </a:bodyPr>
          <a:lstStyle/>
          <a:p>
            <a:pPr algn="ctr"/>
            <a:r>
              <a:rPr lang="en-US" sz="4800" b="1" i="0" dirty="0">
                <a:latin typeface="Arial Narrow" panose="020B0604020202020204" pitchFamily="34" charset="0"/>
                <a:cs typeface="Arial Narrow" panose="020B0604020202020204" pitchFamily="34" charset="0"/>
              </a:rPr>
              <a:t>College of ???</a:t>
            </a:r>
          </a:p>
        </p:txBody>
      </p:sp>
      <p:cxnSp>
        <p:nvCxnSpPr>
          <p:cNvPr id="39" name="Straight Connector 38">
            <a:extLst>
              <a:ext uri="{FF2B5EF4-FFF2-40B4-BE49-F238E27FC236}">
                <a16:creationId xmlns:a16="http://schemas.microsoft.com/office/drawing/2014/main" id="{991D288E-04C6-FC4B-9E60-BE52F0EDB3AD}"/>
              </a:ext>
            </a:extLst>
          </p:cNvPr>
          <p:cNvCxnSpPr>
            <a:cxnSpLocks/>
          </p:cNvCxnSpPr>
          <p:nvPr userDrawn="1"/>
        </p:nvCxnSpPr>
        <p:spPr>
          <a:xfrm>
            <a:off x="-104505" y="2545951"/>
            <a:ext cx="43891200" cy="0"/>
          </a:xfrm>
          <a:prstGeom prst="line">
            <a:avLst/>
          </a:prstGeom>
          <a:ln w="101600">
            <a:solidFill>
              <a:srgbClr val="014C2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9851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03844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xampl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815CB8-A050-E546-AE4E-4327916B3092}"/>
              </a:ext>
            </a:extLst>
          </p:cNvPr>
          <p:cNvSpPr txBox="1"/>
          <p:nvPr userDrawn="1"/>
        </p:nvSpPr>
        <p:spPr>
          <a:xfrm>
            <a:off x="5537202" y="1828801"/>
            <a:ext cx="184731" cy="1209242"/>
          </a:xfrm>
          <a:prstGeom prst="rect">
            <a:avLst/>
          </a:prstGeom>
          <a:noFill/>
        </p:spPr>
        <p:txBody>
          <a:bodyPr wrap="none" rtlCol="0">
            <a:spAutoFit/>
          </a:bodyPr>
          <a:lstStyle/>
          <a:p>
            <a:endParaRPr lang="en-US" sz="7258" dirty="0"/>
          </a:p>
        </p:txBody>
      </p:sp>
      <p:sp>
        <p:nvSpPr>
          <p:cNvPr id="4" name="TextBox 3">
            <a:extLst>
              <a:ext uri="{FF2B5EF4-FFF2-40B4-BE49-F238E27FC236}">
                <a16:creationId xmlns:a16="http://schemas.microsoft.com/office/drawing/2014/main" id="{7C16B0CF-0822-1443-BE84-48BF656920F2}"/>
              </a:ext>
            </a:extLst>
          </p:cNvPr>
          <p:cNvSpPr txBox="1"/>
          <p:nvPr userDrawn="1"/>
        </p:nvSpPr>
        <p:spPr>
          <a:xfrm>
            <a:off x="5537202" y="1828801"/>
            <a:ext cx="184731" cy="1209242"/>
          </a:xfrm>
          <a:prstGeom prst="rect">
            <a:avLst/>
          </a:prstGeom>
          <a:noFill/>
        </p:spPr>
        <p:txBody>
          <a:bodyPr wrap="none" rtlCol="0">
            <a:spAutoFit/>
          </a:bodyPr>
          <a:lstStyle/>
          <a:p>
            <a:endParaRPr lang="en-US" sz="7258" dirty="0"/>
          </a:p>
        </p:txBody>
      </p:sp>
      <p:sp>
        <p:nvSpPr>
          <p:cNvPr id="5" name="Rectangle 4">
            <a:extLst>
              <a:ext uri="{FF2B5EF4-FFF2-40B4-BE49-F238E27FC236}">
                <a16:creationId xmlns:a16="http://schemas.microsoft.com/office/drawing/2014/main" id="{FE91B9BF-4DE2-F742-828F-AC28FDDE6729}"/>
              </a:ext>
            </a:extLst>
          </p:cNvPr>
          <p:cNvSpPr/>
          <p:nvPr userDrawn="1"/>
        </p:nvSpPr>
        <p:spPr>
          <a:xfrm>
            <a:off x="14452705" y="2371346"/>
            <a:ext cx="29438495" cy="830997"/>
          </a:xfrm>
          <a:prstGeom prst="rect">
            <a:avLst/>
          </a:prstGeom>
        </p:spPr>
        <p:txBody>
          <a:bodyPr wrap="square">
            <a:spAutoFit/>
          </a:bodyPr>
          <a:lstStyle/>
          <a:p>
            <a:pPr algn="ctr"/>
            <a:r>
              <a:rPr lang="en-US" sz="4800" b="1" i="1" dirty="0">
                <a:latin typeface="Arial Narrow" panose="020B0604020202020204" pitchFamily="34" charset="0"/>
                <a:cs typeface="Arial Narrow" panose="020B0604020202020204" pitchFamily="34" charset="0"/>
              </a:rPr>
              <a:t>Presenter First Last, </a:t>
            </a:r>
            <a:r>
              <a:rPr lang="en-US" sz="4800" b="0" i="1" dirty="0">
                <a:latin typeface="Arial Narrow" panose="020B0604020202020204" pitchFamily="34" charset="0"/>
                <a:cs typeface="Arial Narrow" panose="020B0604020202020204" pitchFamily="34" charset="0"/>
              </a:rPr>
              <a:t>Author 2, Author 3,… Professor First Last [48pt, Arial Narrow Italic] </a:t>
            </a:r>
          </a:p>
        </p:txBody>
      </p:sp>
      <p:sp>
        <p:nvSpPr>
          <p:cNvPr id="6" name="TextBox 5">
            <a:extLst>
              <a:ext uri="{FF2B5EF4-FFF2-40B4-BE49-F238E27FC236}">
                <a16:creationId xmlns:a16="http://schemas.microsoft.com/office/drawing/2014/main" id="{EBD993A1-1CC0-BA40-B8EC-D141DD4DA238}"/>
              </a:ext>
            </a:extLst>
          </p:cNvPr>
          <p:cNvSpPr txBox="1"/>
          <p:nvPr userDrawn="1"/>
        </p:nvSpPr>
        <p:spPr>
          <a:xfrm>
            <a:off x="14452705" y="94375"/>
            <a:ext cx="29464615" cy="1631216"/>
          </a:xfrm>
          <a:prstGeom prst="rect">
            <a:avLst/>
          </a:prstGeom>
          <a:noFill/>
        </p:spPr>
        <p:txBody>
          <a:bodyPr wrap="square" rtlCol="0">
            <a:spAutoFit/>
          </a:bodyPr>
          <a:lstStyle/>
          <a:p>
            <a:pPr algn="ctr"/>
            <a:r>
              <a:rPr lang="en-US" sz="10000" b="1" i="0" dirty="0">
                <a:latin typeface="Arial Narrow" panose="020B0604020202020204" pitchFamily="34" charset="0"/>
                <a:cs typeface="Arial Narrow" panose="020B0604020202020204" pitchFamily="34" charset="0"/>
              </a:rPr>
              <a:t>Eye-Catching, Informative Title [100pt, Arial Narrow Bold]</a:t>
            </a:r>
          </a:p>
        </p:txBody>
      </p:sp>
      <p:sp>
        <p:nvSpPr>
          <p:cNvPr id="7" name="TextBox 6">
            <a:extLst>
              <a:ext uri="{FF2B5EF4-FFF2-40B4-BE49-F238E27FC236}">
                <a16:creationId xmlns:a16="http://schemas.microsoft.com/office/drawing/2014/main" id="{A14AC6D4-BC41-1E47-9995-80107293C3DB}"/>
              </a:ext>
            </a:extLst>
          </p:cNvPr>
          <p:cNvSpPr txBox="1"/>
          <p:nvPr userDrawn="1"/>
        </p:nvSpPr>
        <p:spPr>
          <a:xfrm>
            <a:off x="91440" y="5884242"/>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Background and Significance </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8" name="TextBox 7">
            <a:extLst>
              <a:ext uri="{FF2B5EF4-FFF2-40B4-BE49-F238E27FC236}">
                <a16:creationId xmlns:a16="http://schemas.microsoft.com/office/drawing/2014/main" id="{0F90C105-3BB7-A441-A630-7C0CE08010F8}"/>
              </a:ext>
            </a:extLst>
          </p:cNvPr>
          <p:cNvSpPr txBox="1"/>
          <p:nvPr userDrawn="1"/>
        </p:nvSpPr>
        <p:spPr>
          <a:xfrm>
            <a:off x="26122" y="23846222"/>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Methods/Techniques/Experiments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9" name="TextBox 8">
            <a:extLst>
              <a:ext uri="{FF2B5EF4-FFF2-40B4-BE49-F238E27FC236}">
                <a16:creationId xmlns:a16="http://schemas.microsoft.com/office/drawing/2014/main" id="{9A162BE7-7FA7-E443-9735-A1262881BA37}"/>
              </a:ext>
            </a:extLst>
          </p:cNvPr>
          <p:cNvSpPr txBox="1"/>
          <p:nvPr userDrawn="1"/>
        </p:nvSpPr>
        <p:spPr>
          <a:xfrm>
            <a:off x="14591208" y="5884242"/>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Main Findings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0" name="TextBox 9">
            <a:extLst>
              <a:ext uri="{FF2B5EF4-FFF2-40B4-BE49-F238E27FC236}">
                <a16:creationId xmlns:a16="http://schemas.microsoft.com/office/drawing/2014/main" id="{CEB2D7EF-B040-F447-95AE-3A81B83B2AC3}"/>
              </a:ext>
            </a:extLst>
          </p:cNvPr>
          <p:cNvSpPr txBox="1"/>
          <p:nvPr userDrawn="1"/>
        </p:nvSpPr>
        <p:spPr>
          <a:xfrm>
            <a:off x="29352240" y="5884242"/>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Results and Conclusions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1" name="TextBox 10">
            <a:extLst>
              <a:ext uri="{FF2B5EF4-FFF2-40B4-BE49-F238E27FC236}">
                <a16:creationId xmlns:a16="http://schemas.microsoft.com/office/drawing/2014/main" id="{A7F18D29-DCAD-6047-8C2A-209EE73A6083}"/>
              </a:ext>
            </a:extLst>
          </p:cNvPr>
          <p:cNvSpPr txBox="1"/>
          <p:nvPr userDrawn="1"/>
        </p:nvSpPr>
        <p:spPr>
          <a:xfrm>
            <a:off x="29352239" y="18725031"/>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Future Directions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2" name="TextBox 11">
            <a:extLst>
              <a:ext uri="{FF2B5EF4-FFF2-40B4-BE49-F238E27FC236}">
                <a16:creationId xmlns:a16="http://schemas.microsoft.com/office/drawing/2014/main" id="{376FB0D7-DDCD-C645-9CC9-0DFBD086A7DA}"/>
              </a:ext>
            </a:extLst>
          </p:cNvPr>
          <p:cNvSpPr txBox="1"/>
          <p:nvPr userDrawn="1"/>
        </p:nvSpPr>
        <p:spPr>
          <a:xfrm>
            <a:off x="29417552" y="26281618"/>
            <a:ext cx="14369143" cy="2308324"/>
          </a:xfrm>
          <a:prstGeom prst="rect">
            <a:avLst/>
          </a:prstGeom>
          <a:noFill/>
        </p:spPr>
        <p:txBody>
          <a:bodyPr wrap="square" rtlCol="0">
            <a:spAutoFit/>
          </a:bodyPr>
          <a:lstStyle/>
          <a:p>
            <a:pPr algn="ctr"/>
            <a:r>
              <a:rPr lang="en-US" sz="7200" b="1" i="0" dirty="0">
                <a:latin typeface="Arial Narrow" panose="020B0604020202020204" pitchFamily="34" charset="0"/>
                <a:cs typeface="Arial Narrow" panose="020B0604020202020204" pitchFamily="34" charset="0"/>
              </a:rPr>
              <a:t>Acknowledgements</a:t>
            </a:r>
          </a:p>
          <a:p>
            <a:pPr algn="ctr"/>
            <a:r>
              <a:rPr lang="en-US" sz="7200" b="1" i="0" dirty="0">
                <a:latin typeface="Arial Narrow" panose="020B0604020202020204" pitchFamily="34" charset="0"/>
                <a:cs typeface="Arial Narrow" panose="020B0604020202020204" pitchFamily="34" charset="0"/>
              </a:rPr>
              <a:t>[72pt, Arial Narrow Bold]</a:t>
            </a:r>
          </a:p>
        </p:txBody>
      </p:sp>
      <p:sp>
        <p:nvSpPr>
          <p:cNvPr id="13" name="TextBox 12">
            <a:extLst>
              <a:ext uri="{FF2B5EF4-FFF2-40B4-BE49-F238E27FC236}">
                <a16:creationId xmlns:a16="http://schemas.microsoft.com/office/drawing/2014/main" id="{BDF91EFB-ACE7-964E-8BD7-9007443CDB40}"/>
              </a:ext>
            </a:extLst>
          </p:cNvPr>
          <p:cNvSpPr txBox="1"/>
          <p:nvPr userDrawn="1"/>
        </p:nvSpPr>
        <p:spPr>
          <a:xfrm>
            <a:off x="418007" y="8242878"/>
            <a:ext cx="13585375" cy="4647426"/>
          </a:xfrm>
          <a:prstGeom prst="rect">
            <a:avLst/>
          </a:prstGeom>
          <a:noFill/>
        </p:spPr>
        <p:txBody>
          <a:bodyPr wrap="square" rtlCol="0">
            <a:spAutoFit/>
          </a:bodyPr>
          <a:lstStyle/>
          <a:p>
            <a:pPr algn="just"/>
            <a:r>
              <a:rPr lang="en-US" sz="4800" b="0" i="0" dirty="0">
                <a:latin typeface="Arial Narrow" panose="020B0604020202020204" pitchFamily="34" charset="0"/>
                <a:cs typeface="Arial Narrow" panose="020B0604020202020204" pitchFamily="34" charset="0"/>
              </a:rPr>
              <a:t>What background information might the audience need to know in order to understand your research? What are the questions you hope to address with your research? What are your hypotheses? What is the impact of this work? [48pt Arial Narrow].</a:t>
            </a:r>
          </a:p>
          <a:p>
            <a:pPr algn="just"/>
            <a:endParaRPr lang="en-US" sz="5600" b="0" i="0" dirty="0">
              <a:latin typeface="Arial Narrow" panose="020B0604020202020204" pitchFamily="34" charset="0"/>
              <a:cs typeface="Arial Narrow" panose="020B0604020202020204" pitchFamily="34" charset="0"/>
            </a:endParaRPr>
          </a:p>
        </p:txBody>
      </p:sp>
      <p:sp>
        <p:nvSpPr>
          <p:cNvPr id="14" name="TextBox 13">
            <a:extLst>
              <a:ext uri="{FF2B5EF4-FFF2-40B4-BE49-F238E27FC236}">
                <a16:creationId xmlns:a16="http://schemas.microsoft.com/office/drawing/2014/main" id="{3AAE1239-FD52-064A-8ED9-CCB346CA21FD}"/>
              </a:ext>
            </a:extLst>
          </p:cNvPr>
          <p:cNvSpPr txBox="1"/>
          <p:nvPr userDrawn="1"/>
        </p:nvSpPr>
        <p:spPr>
          <a:xfrm>
            <a:off x="483323" y="26420214"/>
            <a:ext cx="13585375" cy="3785652"/>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800" b="0" i="0" dirty="0">
                <a:latin typeface="Arial Narrow" panose="020B0604020202020204" pitchFamily="34" charset="0"/>
                <a:cs typeface="Arial Narrow" panose="020B0604020202020204" pitchFamily="34" charset="0"/>
              </a:rPr>
              <a:t>What is your approach to answering the research questions/ testing your hypotheses? How does this method work? Do you have to use this method in a novel way? You could have pictures here if the particular method is really important to understanding the results. [48pt Arial Narrow].</a:t>
            </a:r>
          </a:p>
        </p:txBody>
      </p:sp>
      <p:sp>
        <p:nvSpPr>
          <p:cNvPr id="15" name="TextBox 14">
            <a:extLst>
              <a:ext uri="{FF2B5EF4-FFF2-40B4-BE49-F238E27FC236}">
                <a16:creationId xmlns:a16="http://schemas.microsoft.com/office/drawing/2014/main" id="{3E47F166-A92B-024A-8238-3FEEAF234862}"/>
              </a:ext>
            </a:extLst>
          </p:cNvPr>
          <p:cNvSpPr txBox="1"/>
          <p:nvPr userDrawn="1"/>
        </p:nvSpPr>
        <p:spPr>
          <a:xfrm>
            <a:off x="14983091" y="8763231"/>
            <a:ext cx="13585375" cy="6001643"/>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800" b="0" i="0" dirty="0">
                <a:latin typeface="Arial Narrow" panose="020B0604020202020204" pitchFamily="34" charset="0"/>
                <a:cs typeface="Arial Narrow" panose="020B0604020202020204" pitchFamily="34" charset="0"/>
              </a:rPr>
              <a:t>What are the results from the performed experiments? If you haven’t quite completed some of the experiments, what are the possible results, and what would they mean? This section is usually in the center of the board to emphasize it. Make sure you articulate your results clearly and with enthusiasm! </a:t>
            </a:r>
            <a:r>
              <a:rPr lang="en-US" sz="4800" b="1" i="0" dirty="0">
                <a:latin typeface="Arial Narrow" panose="020B0604020202020204" pitchFamily="34" charset="0"/>
                <a:cs typeface="Arial Narrow" panose="020B0604020202020204" pitchFamily="34" charset="0"/>
              </a:rPr>
              <a:t>You can always bold sentences to really emphasize importance. Try to limit words. Figures are more informative and appealing. </a:t>
            </a:r>
            <a:r>
              <a:rPr lang="en-US" sz="4800" b="0" i="0" dirty="0">
                <a:latin typeface="Arial Narrow" panose="020B0604020202020204" pitchFamily="34" charset="0"/>
                <a:cs typeface="Arial Narrow" panose="020B0604020202020204" pitchFamily="34" charset="0"/>
              </a:rPr>
              <a:t>[48pt Arial Narrow].</a:t>
            </a:r>
            <a:r>
              <a:rPr lang="en-US" sz="4800" b="1" i="0" dirty="0">
                <a:latin typeface="Arial Narrow" panose="020B0604020202020204" pitchFamily="34" charset="0"/>
                <a:cs typeface="Arial Narrow" panose="020B0604020202020204" pitchFamily="34" charset="0"/>
              </a:rPr>
              <a:t> </a:t>
            </a:r>
          </a:p>
        </p:txBody>
      </p:sp>
      <p:pic>
        <p:nvPicPr>
          <p:cNvPr id="16" name="Picture 15">
            <a:extLst>
              <a:ext uri="{FF2B5EF4-FFF2-40B4-BE49-F238E27FC236}">
                <a16:creationId xmlns:a16="http://schemas.microsoft.com/office/drawing/2014/main" id="{4E191E6E-2689-B747-B09D-44B9D4CB40B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19754" y="12358141"/>
            <a:ext cx="11353614" cy="9149029"/>
          </a:xfrm>
          <a:prstGeom prst="rect">
            <a:avLst/>
          </a:prstGeom>
        </p:spPr>
      </p:pic>
      <p:sp>
        <p:nvSpPr>
          <p:cNvPr id="17" name="TextBox 16">
            <a:extLst>
              <a:ext uri="{FF2B5EF4-FFF2-40B4-BE49-F238E27FC236}">
                <a16:creationId xmlns:a16="http://schemas.microsoft.com/office/drawing/2014/main" id="{AF1A0A8A-6533-9442-ACBF-55180D2BE35B}"/>
              </a:ext>
            </a:extLst>
          </p:cNvPr>
          <p:cNvSpPr txBox="1"/>
          <p:nvPr userDrawn="1"/>
        </p:nvSpPr>
        <p:spPr>
          <a:xfrm>
            <a:off x="483323" y="21495405"/>
            <a:ext cx="13585375" cy="1754326"/>
          </a:xfrm>
          <a:prstGeom prst="rect">
            <a:avLst/>
          </a:prstGeom>
          <a:noFill/>
        </p:spPr>
        <p:txBody>
          <a:bodyPr wrap="square" rtlCol="0">
            <a:spAutoFit/>
          </a:bodyPr>
          <a:lstStyle/>
          <a:p>
            <a:pPr algn="just"/>
            <a:r>
              <a:rPr lang="en-US" sz="3600" b="0" i="0" dirty="0">
                <a:latin typeface="Arial Narrow" panose="020B0604020202020204" pitchFamily="34" charset="0"/>
                <a:cs typeface="Arial Narrow" panose="020B0604020202020204" pitchFamily="34" charset="0"/>
              </a:rPr>
              <a:t>Figure 1. A brief description so someone can understand the figure if you aren’t there to explain it. Make sure the figure font is legible when printed!  [36pt Arial Narrow].</a:t>
            </a:r>
          </a:p>
        </p:txBody>
      </p:sp>
      <p:pic>
        <p:nvPicPr>
          <p:cNvPr id="18" name="Picture 17">
            <a:extLst>
              <a:ext uri="{FF2B5EF4-FFF2-40B4-BE49-F238E27FC236}">
                <a16:creationId xmlns:a16="http://schemas.microsoft.com/office/drawing/2014/main" id="{95753860-FF9B-4245-85F6-2B21049DC77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633735" y="15518419"/>
            <a:ext cx="14358034" cy="12678539"/>
          </a:xfrm>
          <a:prstGeom prst="rect">
            <a:avLst/>
          </a:prstGeom>
        </p:spPr>
      </p:pic>
      <p:sp>
        <p:nvSpPr>
          <p:cNvPr id="19" name="TextBox 18">
            <a:extLst>
              <a:ext uri="{FF2B5EF4-FFF2-40B4-BE49-F238E27FC236}">
                <a16:creationId xmlns:a16="http://schemas.microsoft.com/office/drawing/2014/main" id="{A8E11CC2-529A-5748-864A-CCA9195C8B1A}"/>
              </a:ext>
            </a:extLst>
          </p:cNvPr>
          <p:cNvSpPr txBox="1"/>
          <p:nvPr userDrawn="1"/>
        </p:nvSpPr>
        <p:spPr>
          <a:xfrm>
            <a:off x="15061473" y="28530875"/>
            <a:ext cx="13585375" cy="2862322"/>
          </a:xfrm>
          <a:prstGeom prst="rect">
            <a:avLst/>
          </a:prstGeom>
          <a:noFill/>
        </p:spPr>
        <p:txBody>
          <a:bodyPr wrap="square" rtlCol="0">
            <a:spAutoFit/>
          </a:bodyPr>
          <a:lstStyle/>
          <a:p>
            <a:pPr algn="just"/>
            <a:r>
              <a:rPr lang="en-US" sz="3600" b="0" i="0" dirty="0">
                <a:latin typeface="Arial Narrow" panose="020B0604020202020204" pitchFamily="34" charset="0"/>
                <a:cs typeface="Arial Narrow" panose="020B0604020202020204" pitchFamily="34" charset="0"/>
              </a:rPr>
              <a:t>Figure 2. a.) Figures and tables are essential to have in this section. Spending time on appealing, informative figures is worthwhile. Tables can be helpful but often that data is better portrayed in a figure/plot, especially if it is a larger table filled with numbers. b.) Multi-panel figures work well when the information is tied together. c.) Make sure to talk about each figure. [36pt Arial Narrow].</a:t>
            </a:r>
            <a:endParaRPr lang="en-US" sz="5600" b="0" i="0" dirty="0">
              <a:latin typeface="Arial Narrow" panose="020B0604020202020204" pitchFamily="34" charset="0"/>
              <a:cs typeface="Arial Narrow" panose="020B0604020202020204" pitchFamily="34" charset="0"/>
            </a:endParaRPr>
          </a:p>
        </p:txBody>
      </p:sp>
      <p:sp>
        <p:nvSpPr>
          <p:cNvPr id="20" name="TextBox 19">
            <a:extLst>
              <a:ext uri="{FF2B5EF4-FFF2-40B4-BE49-F238E27FC236}">
                <a16:creationId xmlns:a16="http://schemas.microsoft.com/office/drawing/2014/main" id="{7156BAA0-6312-E54F-B78A-AC0D5EC62349}"/>
              </a:ext>
            </a:extLst>
          </p:cNvPr>
          <p:cNvSpPr txBox="1"/>
          <p:nvPr userDrawn="1"/>
        </p:nvSpPr>
        <p:spPr>
          <a:xfrm>
            <a:off x="29809435" y="8731641"/>
            <a:ext cx="13585375" cy="9694962"/>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800" b="0" i="0" dirty="0">
                <a:latin typeface="Arial Narrow" panose="020B0604020202020204" pitchFamily="34" charset="0"/>
                <a:cs typeface="Arial Narrow" panose="020B0604020202020204" pitchFamily="34" charset="0"/>
              </a:rPr>
              <a:t>What do your results mean? This section can be closely tied with ”Future Directions” and you may not need to separate them into different sections. Some general rules for any section:</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Lists/bullet points can be nice. Concise language is best.</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White space makes the poster look less busy, and usually more appealing to the audience.</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Stick to 3 or less main colors if possible.</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Be consistent with fonts and section sizes</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Make sure figure text is legible</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800" b="0" i="0" dirty="0">
                <a:latin typeface="Arial Narrow" panose="020B0604020202020204" pitchFamily="34" charset="0"/>
                <a:cs typeface="Arial Narrow" panose="020B0604020202020204" pitchFamily="34" charset="0"/>
              </a:rPr>
              <a:t>This example poster has a LOT of text. Try to make your poster have less.  Figures &gt; text. </a:t>
            </a:r>
          </a:p>
        </p:txBody>
      </p:sp>
      <p:sp>
        <p:nvSpPr>
          <p:cNvPr id="21" name="Rectangle 20">
            <a:extLst>
              <a:ext uri="{FF2B5EF4-FFF2-40B4-BE49-F238E27FC236}">
                <a16:creationId xmlns:a16="http://schemas.microsoft.com/office/drawing/2014/main" id="{C5CC8FAB-1F1F-614A-9987-E4139F473625}"/>
              </a:ext>
            </a:extLst>
          </p:cNvPr>
          <p:cNvSpPr/>
          <p:nvPr userDrawn="1"/>
        </p:nvSpPr>
        <p:spPr>
          <a:xfrm>
            <a:off x="29809434" y="21217060"/>
            <a:ext cx="13585375" cy="4524315"/>
          </a:xfrm>
          <a:prstGeom prst="rect">
            <a:avLst/>
          </a:prstGeom>
        </p:spPr>
        <p:txBody>
          <a:bodyPr wrap="square">
            <a:spAutoFit/>
          </a:bodyPr>
          <a:lstStyle/>
          <a:p>
            <a:r>
              <a:rPr lang="en-US" sz="4800" b="0" i="0" dirty="0">
                <a:latin typeface="Arial Narrow" panose="020B0604020202020204" pitchFamily="34" charset="0"/>
                <a:cs typeface="Arial Narrow" panose="020B0604020202020204" pitchFamily="34" charset="0"/>
              </a:rPr>
              <a:t>You do not have to restrain yourself to these typical section titles. You can be more description, which ends up saving word-space as well. For example, instead of “Main Findings” you could make that heading “Truncation Schemes Alter Optimized Positions”, or something that concisely explains the main takeaway of that section.</a:t>
            </a:r>
            <a:endParaRPr lang="en-US" sz="4800" dirty="0"/>
          </a:p>
        </p:txBody>
      </p:sp>
      <p:sp>
        <p:nvSpPr>
          <p:cNvPr id="22" name="Rectangle 21">
            <a:extLst>
              <a:ext uri="{FF2B5EF4-FFF2-40B4-BE49-F238E27FC236}">
                <a16:creationId xmlns:a16="http://schemas.microsoft.com/office/drawing/2014/main" id="{BD105E47-C62C-C449-92ED-4658755DEF1F}"/>
              </a:ext>
            </a:extLst>
          </p:cNvPr>
          <p:cNvSpPr/>
          <p:nvPr userDrawn="1"/>
        </p:nvSpPr>
        <p:spPr>
          <a:xfrm>
            <a:off x="29639623" y="28841975"/>
            <a:ext cx="13585375" cy="3046988"/>
          </a:xfrm>
          <a:prstGeom prst="rect">
            <a:avLst/>
          </a:prstGeom>
        </p:spPr>
        <p:txBody>
          <a:bodyPr wrap="square">
            <a:spAutoFit/>
          </a:bodyPr>
          <a:lstStyle/>
          <a:p>
            <a:r>
              <a:rPr lang="en-US" sz="4800" b="0" i="0" dirty="0">
                <a:latin typeface="Arial Narrow" panose="020B0604020202020204" pitchFamily="34" charset="0"/>
                <a:cs typeface="Arial Narrow" panose="020B0604020202020204" pitchFamily="34" charset="0"/>
              </a:rPr>
              <a:t>You probably want to thank your research advisor and any other mentors. This is also the space to list any scholarships/internships/funding that in anyway made it easier/possible for you to do undergraduate research.</a:t>
            </a:r>
            <a:endParaRPr lang="en-US" sz="4800" dirty="0"/>
          </a:p>
        </p:txBody>
      </p:sp>
      <p:cxnSp>
        <p:nvCxnSpPr>
          <p:cNvPr id="23" name="Straight Connector 22">
            <a:extLst>
              <a:ext uri="{FF2B5EF4-FFF2-40B4-BE49-F238E27FC236}">
                <a16:creationId xmlns:a16="http://schemas.microsoft.com/office/drawing/2014/main" id="{B749DE3D-E93E-B24C-99EB-8B90EA47A90D}"/>
              </a:ext>
            </a:extLst>
          </p:cNvPr>
          <p:cNvCxnSpPr>
            <a:cxnSpLocks/>
          </p:cNvCxnSpPr>
          <p:nvPr userDrawn="1"/>
        </p:nvCxnSpPr>
        <p:spPr>
          <a:xfrm flipH="1">
            <a:off x="14395265" y="5551364"/>
            <a:ext cx="6535" cy="26940316"/>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EE0D3BE-4085-2F44-A412-382E71D6F44D}"/>
              </a:ext>
            </a:extLst>
          </p:cNvPr>
          <p:cNvCxnSpPr>
            <a:cxnSpLocks/>
          </p:cNvCxnSpPr>
          <p:nvPr userDrawn="1"/>
        </p:nvCxnSpPr>
        <p:spPr>
          <a:xfrm>
            <a:off x="28956000" y="5551364"/>
            <a:ext cx="35769" cy="26940316"/>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71953DA-5995-AD46-974C-21A3B500581B}"/>
              </a:ext>
            </a:extLst>
          </p:cNvPr>
          <p:cNvSpPr txBox="1"/>
          <p:nvPr userDrawn="1"/>
        </p:nvSpPr>
        <p:spPr>
          <a:xfrm>
            <a:off x="241399" y="31008739"/>
            <a:ext cx="13585376" cy="1754326"/>
          </a:xfrm>
          <a:prstGeom prst="rect">
            <a:avLst/>
          </a:prstGeom>
          <a:noFill/>
        </p:spPr>
        <p:txBody>
          <a:bodyPr wrap="square" rtlCol="0">
            <a:spAutoFit/>
          </a:bodyPr>
          <a:lstStyle/>
          <a:p>
            <a:pPr algn="just"/>
            <a:r>
              <a:rPr lang="en-US" sz="3600" b="0" i="0" dirty="0">
                <a:latin typeface="Arial Narrow" panose="020B0604020202020204" pitchFamily="34" charset="0"/>
                <a:cs typeface="Arial Narrow" panose="020B0604020202020204" pitchFamily="34" charset="0"/>
              </a:rPr>
              <a:t>Citations can go here. It is common to have 1-5 citations in the background and significance and methods/experiments sections. Follow the citation format that is most common in your field. [36pt Arial] </a:t>
            </a:r>
          </a:p>
        </p:txBody>
      </p:sp>
      <p:cxnSp>
        <p:nvCxnSpPr>
          <p:cNvPr id="26" name="Straight Connector 25">
            <a:extLst>
              <a:ext uri="{FF2B5EF4-FFF2-40B4-BE49-F238E27FC236}">
                <a16:creationId xmlns:a16="http://schemas.microsoft.com/office/drawing/2014/main" id="{99CDC69B-7C7A-0344-A356-B7902B323B0F}"/>
              </a:ext>
            </a:extLst>
          </p:cNvPr>
          <p:cNvCxnSpPr>
            <a:cxnSpLocks/>
          </p:cNvCxnSpPr>
          <p:nvPr userDrawn="1"/>
        </p:nvCxnSpPr>
        <p:spPr>
          <a:xfrm flipH="1">
            <a:off x="213360" y="30734419"/>
            <a:ext cx="13735335" cy="0"/>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BC406F7-7E4B-2E4A-B523-2D458C094DA0}"/>
              </a:ext>
            </a:extLst>
          </p:cNvPr>
          <p:cNvSpPr/>
          <p:nvPr userDrawn="1"/>
        </p:nvSpPr>
        <p:spPr>
          <a:xfrm>
            <a:off x="14395265" y="3664090"/>
            <a:ext cx="29438495" cy="830997"/>
          </a:xfrm>
          <a:prstGeom prst="rect">
            <a:avLst/>
          </a:prstGeom>
        </p:spPr>
        <p:txBody>
          <a:bodyPr wrap="square">
            <a:spAutoFit/>
          </a:bodyPr>
          <a:lstStyle/>
          <a:p>
            <a:pPr algn="ctr"/>
            <a:r>
              <a:rPr lang="en-US" sz="4800" b="1" i="0" dirty="0">
                <a:latin typeface="Arial Narrow" panose="020B0604020202020204" pitchFamily="34" charset="0"/>
                <a:cs typeface="Arial Narrow" panose="020B0604020202020204" pitchFamily="34" charset="0"/>
              </a:rPr>
              <a:t>College of ???</a:t>
            </a:r>
          </a:p>
        </p:txBody>
      </p:sp>
    </p:spTree>
    <p:extLst>
      <p:ext uri="{BB962C8B-B14F-4D97-AF65-F5344CB8AC3E}">
        <p14:creationId xmlns:p14="http://schemas.microsoft.com/office/powerpoint/2010/main" val="4239277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6763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xample">
    <p:spTree>
      <p:nvGrpSpPr>
        <p:cNvPr id="1" name=""/>
        <p:cNvGrpSpPr/>
        <p:nvPr/>
      </p:nvGrpSpPr>
      <p:grpSpPr>
        <a:xfrm>
          <a:off x="0" y="0"/>
          <a:ext cx="0" cy="0"/>
          <a:chOff x="0" y="0"/>
          <a:chExt cx="0" cy="0"/>
        </a:xfrm>
      </p:grpSpPr>
      <p:sp>
        <p:nvSpPr>
          <p:cNvPr id="88" name="TextBox 87">
            <a:extLst>
              <a:ext uri="{FF2B5EF4-FFF2-40B4-BE49-F238E27FC236}">
                <a16:creationId xmlns:a16="http://schemas.microsoft.com/office/drawing/2014/main" id="{4BEEDA37-3B28-54FA-6607-51217A983288}"/>
              </a:ext>
            </a:extLst>
          </p:cNvPr>
          <p:cNvSpPr txBox="1"/>
          <p:nvPr userDrawn="1"/>
        </p:nvSpPr>
        <p:spPr>
          <a:xfrm>
            <a:off x="5537202" y="1828801"/>
            <a:ext cx="184731" cy="1209242"/>
          </a:xfrm>
          <a:prstGeom prst="rect">
            <a:avLst/>
          </a:prstGeom>
          <a:noFill/>
        </p:spPr>
        <p:txBody>
          <a:bodyPr wrap="none" rtlCol="0">
            <a:spAutoFit/>
          </a:bodyPr>
          <a:lstStyle/>
          <a:p>
            <a:endParaRPr lang="en-US" sz="7258" dirty="0">
              <a:latin typeface="Comic Sans MS" panose="030F0702030302020204" pitchFamily="66" charset="0"/>
            </a:endParaRPr>
          </a:p>
        </p:txBody>
      </p:sp>
      <p:sp>
        <p:nvSpPr>
          <p:cNvPr id="89" name="Rectangle 88">
            <a:extLst>
              <a:ext uri="{FF2B5EF4-FFF2-40B4-BE49-F238E27FC236}">
                <a16:creationId xmlns:a16="http://schemas.microsoft.com/office/drawing/2014/main" id="{DA8494EA-70B8-F23A-2E67-AA4FC9108E3E}"/>
              </a:ext>
            </a:extLst>
          </p:cNvPr>
          <p:cNvSpPr/>
          <p:nvPr userDrawn="1"/>
        </p:nvSpPr>
        <p:spPr>
          <a:xfrm>
            <a:off x="4095838" y="1975425"/>
            <a:ext cx="35433827" cy="830997"/>
          </a:xfrm>
          <a:prstGeom prst="rect">
            <a:avLst/>
          </a:prstGeom>
        </p:spPr>
        <p:txBody>
          <a:bodyPr wrap="square">
            <a:spAutoFit/>
          </a:bodyPr>
          <a:lstStyle/>
          <a:p>
            <a:pPr algn="ctr"/>
            <a:r>
              <a:rPr lang="en-US" sz="4800" b="1" i="1" dirty="0">
                <a:latin typeface="Comic Sans MS" panose="030F0702030302020204" pitchFamily="66" charset="0"/>
                <a:cs typeface="Arial Narrow" panose="020B0604020202020204" pitchFamily="34" charset="0"/>
              </a:rPr>
              <a:t>Presenter First Last, </a:t>
            </a:r>
            <a:r>
              <a:rPr lang="en-US" sz="4800" b="0" i="1" dirty="0">
                <a:latin typeface="Comic Sans MS" panose="030F0702030302020204" pitchFamily="66" charset="0"/>
                <a:cs typeface="Arial Narrow" panose="020B0604020202020204" pitchFamily="34" charset="0"/>
              </a:rPr>
              <a:t>Author 2, Author 3,… Professor First Last [48pt, Comic Sans Italic] </a:t>
            </a:r>
          </a:p>
        </p:txBody>
      </p:sp>
      <p:sp>
        <p:nvSpPr>
          <p:cNvPr id="90" name="TextBox 89">
            <a:extLst>
              <a:ext uri="{FF2B5EF4-FFF2-40B4-BE49-F238E27FC236}">
                <a16:creationId xmlns:a16="http://schemas.microsoft.com/office/drawing/2014/main" id="{277721F6-0F3D-9E4A-A64A-70C82DFBDB3D}"/>
              </a:ext>
            </a:extLst>
          </p:cNvPr>
          <p:cNvSpPr txBox="1"/>
          <p:nvPr userDrawn="1"/>
        </p:nvSpPr>
        <p:spPr>
          <a:xfrm>
            <a:off x="4392963" y="339040"/>
            <a:ext cx="35095348" cy="1631216"/>
          </a:xfrm>
          <a:prstGeom prst="rect">
            <a:avLst/>
          </a:prstGeom>
          <a:noFill/>
        </p:spPr>
        <p:txBody>
          <a:bodyPr wrap="square" rtlCol="0">
            <a:spAutoFit/>
          </a:bodyPr>
          <a:lstStyle/>
          <a:p>
            <a:pPr algn="ctr"/>
            <a:r>
              <a:rPr lang="en-US" sz="10000" b="1" i="0" dirty="0">
                <a:latin typeface="Comic Sans MS" panose="030F0702030302020204" pitchFamily="66" charset="0"/>
                <a:cs typeface="Arial Narrow" panose="020B0604020202020204" pitchFamily="34" charset="0"/>
              </a:rPr>
              <a:t>Title [100pt, Comic Sans Bold]</a:t>
            </a:r>
          </a:p>
        </p:txBody>
      </p:sp>
      <p:sp>
        <p:nvSpPr>
          <p:cNvPr id="91" name="TextBox 90">
            <a:extLst>
              <a:ext uri="{FF2B5EF4-FFF2-40B4-BE49-F238E27FC236}">
                <a16:creationId xmlns:a16="http://schemas.microsoft.com/office/drawing/2014/main" id="{8D222EF9-5EF8-C243-3EF2-787172D98FD0}"/>
              </a:ext>
            </a:extLst>
          </p:cNvPr>
          <p:cNvSpPr txBox="1"/>
          <p:nvPr userDrawn="1"/>
        </p:nvSpPr>
        <p:spPr>
          <a:xfrm>
            <a:off x="91440" y="4384920"/>
            <a:ext cx="14369143" cy="2308324"/>
          </a:xfrm>
          <a:prstGeom prst="rect">
            <a:avLst/>
          </a:prstGeom>
          <a:noFill/>
        </p:spPr>
        <p:txBody>
          <a:bodyPr wrap="square" rtlCol="0">
            <a:spAutoFit/>
          </a:bodyPr>
          <a:lstStyle/>
          <a:p>
            <a:pPr algn="ctr"/>
            <a:r>
              <a:rPr lang="en-US" sz="7200" b="1" i="0" dirty="0">
                <a:latin typeface="Comic Sans MS" panose="030F0702030302020204" pitchFamily="66" charset="0"/>
                <a:cs typeface="Arial Narrow" panose="020B0604020202020204" pitchFamily="34" charset="0"/>
              </a:rPr>
              <a:t>Background and Significance </a:t>
            </a:r>
          </a:p>
          <a:p>
            <a:pPr algn="ctr"/>
            <a:r>
              <a:rPr lang="en-US" sz="7200" b="1" i="0" dirty="0">
                <a:latin typeface="Comic Sans MS" panose="030F0702030302020204" pitchFamily="66" charset="0"/>
                <a:cs typeface="Arial Narrow" panose="020B0604020202020204" pitchFamily="34" charset="0"/>
              </a:rPr>
              <a:t>[72pt, Comic Sans Bold]</a:t>
            </a:r>
          </a:p>
        </p:txBody>
      </p:sp>
      <p:sp>
        <p:nvSpPr>
          <p:cNvPr id="92" name="TextBox 91">
            <a:extLst>
              <a:ext uri="{FF2B5EF4-FFF2-40B4-BE49-F238E27FC236}">
                <a16:creationId xmlns:a16="http://schemas.microsoft.com/office/drawing/2014/main" id="{E11CABED-D6D0-CCF1-A4E7-3D1124124030}"/>
              </a:ext>
            </a:extLst>
          </p:cNvPr>
          <p:cNvSpPr txBox="1"/>
          <p:nvPr userDrawn="1"/>
        </p:nvSpPr>
        <p:spPr>
          <a:xfrm>
            <a:off x="26122" y="22230132"/>
            <a:ext cx="14369143" cy="2308324"/>
          </a:xfrm>
          <a:prstGeom prst="rect">
            <a:avLst/>
          </a:prstGeom>
          <a:noFill/>
        </p:spPr>
        <p:txBody>
          <a:bodyPr wrap="square" rtlCol="0">
            <a:spAutoFit/>
          </a:bodyPr>
          <a:lstStyle/>
          <a:p>
            <a:pPr algn="ctr"/>
            <a:r>
              <a:rPr lang="en-US" sz="7200" b="1" i="0" dirty="0">
                <a:latin typeface="Comic Sans MS" panose="030F0702030302020204" pitchFamily="66" charset="0"/>
                <a:cs typeface="Arial Narrow" panose="020B0604020202020204" pitchFamily="34" charset="0"/>
              </a:rPr>
              <a:t>Methods/Approach</a:t>
            </a:r>
          </a:p>
          <a:p>
            <a:pPr algn="ctr"/>
            <a:r>
              <a:rPr lang="en-US" sz="7200" b="1" i="0" dirty="0">
                <a:latin typeface="Comic Sans MS" panose="030F0702030302020204" pitchFamily="66" charset="0"/>
                <a:cs typeface="Arial Narrow" panose="020B0604020202020204" pitchFamily="34" charset="0"/>
              </a:rPr>
              <a:t>[72pt, Comic Sans Bold]</a:t>
            </a:r>
          </a:p>
        </p:txBody>
      </p:sp>
      <p:sp>
        <p:nvSpPr>
          <p:cNvPr id="93" name="TextBox 92">
            <a:extLst>
              <a:ext uri="{FF2B5EF4-FFF2-40B4-BE49-F238E27FC236}">
                <a16:creationId xmlns:a16="http://schemas.microsoft.com/office/drawing/2014/main" id="{B9258D59-5BC0-F2CB-029E-359F14D02378}"/>
              </a:ext>
            </a:extLst>
          </p:cNvPr>
          <p:cNvSpPr txBox="1"/>
          <p:nvPr userDrawn="1"/>
        </p:nvSpPr>
        <p:spPr>
          <a:xfrm>
            <a:off x="14591208" y="4384920"/>
            <a:ext cx="14369143" cy="2308324"/>
          </a:xfrm>
          <a:prstGeom prst="rect">
            <a:avLst/>
          </a:prstGeom>
          <a:noFill/>
        </p:spPr>
        <p:txBody>
          <a:bodyPr wrap="square" rtlCol="0">
            <a:spAutoFit/>
          </a:bodyPr>
          <a:lstStyle/>
          <a:p>
            <a:pPr algn="ctr"/>
            <a:r>
              <a:rPr lang="en-US" sz="7200" b="1" i="0" dirty="0">
                <a:latin typeface="Comic Sans MS" panose="030F0702030302020204" pitchFamily="66" charset="0"/>
                <a:cs typeface="Arial Narrow" panose="020B0604020202020204" pitchFamily="34" charset="0"/>
              </a:rPr>
              <a:t>Main Findings</a:t>
            </a:r>
          </a:p>
          <a:p>
            <a:pPr algn="ctr"/>
            <a:r>
              <a:rPr lang="en-US" sz="7200" b="1" i="0" dirty="0">
                <a:latin typeface="Comic Sans MS" panose="030F0702030302020204" pitchFamily="66" charset="0"/>
                <a:cs typeface="Arial Narrow" panose="020B0604020202020204" pitchFamily="34" charset="0"/>
              </a:rPr>
              <a:t>[72pt, Comic Sans Bold]</a:t>
            </a:r>
          </a:p>
        </p:txBody>
      </p:sp>
      <p:sp>
        <p:nvSpPr>
          <p:cNvPr id="94" name="TextBox 93">
            <a:extLst>
              <a:ext uri="{FF2B5EF4-FFF2-40B4-BE49-F238E27FC236}">
                <a16:creationId xmlns:a16="http://schemas.microsoft.com/office/drawing/2014/main" id="{6502B52D-7277-5C91-96CD-D130F5E5CD29}"/>
              </a:ext>
            </a:extLst>
          </p:cNvPr>
          <p:cNvSpPr txBox="1"/>
          <p:nvPr userDrawn="1"/>
        </p:nvSpPr>
        <p:spPr>
          <a:xfrm>
            <a:off x="29352240" y="4384920"/>
            <a:ext cx="14369143" cy="2308324"/>
          </a:xfrm>
          <a:prstGeom prst="rect">
            <a:avLst/>
          </a:prstGeom>
          <a:noFill/>
        </p:spPr>
        <p:txBody>
          <a:bodyPr wrap="square" rtlCol="0">
            <a:spAutoFit/>
          </a:bodyPr>
          <a:lstStyle/>
          <a:p>
            <a:pPr algn="ctr"/>
            <a:r>
              <a:rPr lang="en-US" sz="7200" b="1" i="0" dirty="0">
                <a:latin typeface="Comic Sans MS" panose="030F0702030302020204" pitchFamily="66" charset="0"/>
                <a:cs typeface="Arial Narrow" panose="020B0604020202020204" pitchFamily="34" charset="0"/>
              </a:rPr>
              <a:t>Implications</a:t>
            </a:r>
          </a:p>
          <a:p>
            <a:pPr algn="ctr"/>
            <a:r>
              <a:rPr lang="en-US" sz="7200" b="1" i="0" dirty="0">
                <a:latin typeface="Comic Sans MS" panose="030F0702030302020204" pitchFamily="66" charset="0"/>
                <a:cs typeface="Arial Narrow" panose="020B0604020202020204" pitchFamily="34" charset="0"/>
              </a:rPr>
              <a:t>[72pt, Comic Sans Bold]</a:t>
            </a:r>
          </a:p>
        </p:txBody>
      </p:sp>
      <p:sp>
        <p:nvSpPr>
          <p:cNvPr id="95" name="TextBox 94">
            <a:extLst>
              <a:ext uri="{FF2B5EF4-FFF2-40B4-BE49-F238E27FC236}">
                <a16:creationId xmlns:a16="http://schemas.microsoft.com/office/drawing/2014/main" id="{1F64DAC4-47F6-CCC2-A567-B8F95237E622}"/>
              </a:ext>
            </a:extLst>
          </p:cNvPr>
          <p:cNvSpPr txBox="1"/>
          <p:nvPr userDrawn="1"/>
        </p:nvSpPr>
        <p:spPr>
          <a:xfrm>
            <a:off x="29352239" y="16158867"/>
            <a:ext cx="14369143" cy="2308324"/>
          </a:xfrm>
          <a:prstGeom prst="rect">
            <a:avLst/>
          </a:prstGeom>
          <a:noFill/>
        </p:spPr>
        <p:txBody>
          <a:bodyPr wrap="square" rtlCol="0">
            <a:spAutoFit/>
          </a:bodyPr>
          <a:lstStyle/>
          <a:p>
            <a:pPr algn="ctr"/>
            <a:r>
              <a:rPr lang="en-US" sz="7200" b="1" i="0" dirty="0">
                <a:latin typeface="Comic Sans MS" panose="030F0702030302020204" pitchFamily="66" charset="0"/>
                <a:cs typeface="Arial Narrow" panose="020B0604020202020204" pitchFamily="34" charset="0"/>
              </a:rPr>
              <a:t>Future Directions</a:t>
            </a:r>
          </a:p>
          <a:p>
            <a:pPr algn="ctr"/>
            <a:r>
              <a:rPr lang="en-US" sz="7200" b="1" i="0" dirty="0">
                <a:latin typeface="Comic Sans MS" panose="030F0702030302020204" pitchFamily="66" charset="0"/>
                <a:cs typeface="Arial Narrow" panose="020B0604020202020204" pitchFamily="34" charset="0"/>
              </a:rPr>
              <a:t>[72pt, Comic Sans Bold]</a:t>
            </a:r>
          </a:p>
        </p:txBody>
      </p:sp>
      <p:sp>
        <p:nvSpPr>
          <p:cNvPr id="96" name="TextBox 95">
            <a:extLst>
              <a:ext uri="{FF2B5EF4-FFF2-40B4-BE49-F238E27FC236}">
                <a16:creationId xmlns:a16="http://schemas.microsoft.com/office/drawing/2014/main" id="{1055C060-2D80-39C1-29F0-7C0569780553}"/>
              </a:ext>
            </a:extLst>
          </p:cNvPr>
          <p:cNvSpPr txBox="1"/>
          <p:nvPr userDrawn="1"/>
        </p:nvSpPr>
        <p:spPr>
          <a:xfrm>
            <a:off x="29417552" y="24538456"/>
            <a:ext cx="14369143" cy="2308324"/>
          </a:xfrm>
          <a:prstGeom prst="rect">
            <a:avLst/>
          </a:prstGeom>
          <a:noFill/>
        </p:spPr>
        <p:txBody>
          <a:bodyPr wrap="square" rtlCol="0">
            <a:spAutoFit/>
          </a:bodyPr>
          <a:lstStyle/>
          <a:p>
            <a:pPr algn="ctr"/>
            <a:r>
              <a:rPr lang="en-US" sz="7200" b="1" i="0" dirty="0">
                <a:latin typeface="Comic Sans MS" panose="030F0702030302020204" pitchFamily="66" charset="0"/>
                <a:cs typeface="Arial Narrow" panose="020B0604020202020204" pitchFamily="34" charset="0"/>
              </a:rPr>
              <a:t>Acknowledgements</a:t>
            </a:r>
          </a:p>
          <a:p>
            <a:pPr algn="ctr"/>
            <a:r>
              <a:rPr lang="en-US" sz="7200" b="1" i="0" dirty="0">
                <a:latin typeface="Comic Sans MS" panose="030F0702030302020204" pitchFamily="66" charset="0"/>
                <a:cs typeface="Arial Narrow" panose="020B0604020202020204" pitchFamily="34" charset="0"/>
              </a:rPr>
              <a:t>[72pt, Comic Sans Bold]</a:t>
            </a:r>
          </a:p>
        </p:txBody>
      </p:sp>
      <p:sp>
        <p:nvSpPr>
          <p:cNvPr id="97" name="TextBox 96">
            <a:extLst>
              <a:ext uri="{FF2B5EF4-FFF2-40B4-BE49-F238E27FC236}">
                <a16:creationId xmlns:a16="http://schemas.microsoft.com/office/drawing/2014/main" id="{A2F84F3D-0311-019D-482D-4B92355069DD}"/>
              </a:ext>
            </a:extLst>
          </p:cNvPr>
          <p:cNvSpPr txBox="1"/>
          <p:nvPr userDrawn="1"/>
        </p:nvSpPr>
        <p:spPr>
          <a:xfrm>
            <a:off x="418007" y="6874184"/>
            <a:ext cx="13585375" cy="5386090"/>
          </a:xfrm>
          <a:prstGeom prst="rect">
            <a:avLst/>
          </a:prstGeom>
          <a:noFill/>
        </p:spPr>
        <p:txBody>
          <a:bodyPr wrap="square" rtlCol="0">
            <a:spAutoFit/>
          </a:bodyPr>
          <a:lstStyle/>
          <a:p>
            <a:pPr algn="just"/>
            <a:r>
              <a:rPr lang="en-US" sz="4800" b="0" i="0" dirty="0">
                <a:latin typeface="Comic Sans MS" panose="030F0702030302020204" pitchFamily="66" charset="0"/>
                <a:cs typeface="Arial Narrow" panose="020B0604020202020204" pitchFamily="34" charset="0"/>
              </a:rPr>
              <a:t>What background information might the audience need to know in order to understand your research? What are the questions you hope to address with your research? What are your hypotheses? What is the impact of this work? [48pt Comic Sans].</a:t>
            </a:r>
          </a:p>
          <a:p>
            <a:pPr algn="just"/>
            <a:endParaRPr lang="en-US" sz="5600" b="0" i="0" dirty="0">
              <a:latin typeface="Comic Sans MS" panose="030F0702030302020204" pitchFamily="66" charset="0"/>
              <a:cs typeface="Arial Narrow" panose="020B0604020202020204" pitchFamily="34" charset="0"/>
            </a:endParaRPr>
          </a:p>
        </p:txBody>
      </p:sp>
      <p:sp>
        <p:nvSpPr>
          <p:cNvPr id="98" name="TextBox 97">
            <a:extLst>
              <a:ext uri="{FF2B5EF4-FFF2-40B4-BE49-F238E27FC236}">
                <a16:creationId xmlns:a16="http://schemas.microsoft.com/office/drawing/2014/main" id="{A1AB9C8A-6EA4-F700-F661-D5A2EFB7B715}"/>
              </a:ext>
            </a:extLst>
          </p:cNvPr>
          <p:cNvSpPr txBox="1"/>
          <p:nvPr userDrawn="1"/>
        </p:nvSpPr>
        <p:spPr>
          <a:xfrm>
            <a:off x="483323" y="24804124"/>
            <a:ext cx="13585375" cy="5262979"/>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800" b="0" i="0" dirty="0">
                <a:latin typeface="Comic Sans MS" panose="030F0702030302020204" pitchFamily="66" charset="0"/>
                <a:cs typeface="Arial Narrow" panose="020B0604020202020204" pitchFamily="34" charset="0"/>
              </a:rPr>
              <a:t>What is your approach to answering the research questions/testing hypotheses? How does this method work? Do you have to use this method in a novel way? You could have pictures here if the particular method is really important to understanding the results. [48pt Comic Sans].</a:t>
            </a:r>
          </a:p>
        </p:txBody>
      </p:sp>
      <p:sp>
        <p:nvSpPr>
          <p:cNvPr id="99" name="TextBox 98">
            <a:extLst>
              <a:ext uri="{FF2B5EF4-FFF2-40B4-BE49-F238E27FC236}">
                <a16:creationId xmlns:a16="http://schemas.microsoft.com/office/drawing/2014/main" id="{FD7E32EB-5583-A6B8-A567-5B3A333DA62C}"/>
              </a:ext>
            </a:extLst>
          </p:cNvPr>
          <p:cNvSpPr txBox="1"/>
          <p:nvPr userDrawn="1"/>
        </p:nvSpPr>
        <p:spPr>
          <a:xfrm>
            <a:off x="14983091" y="6693244"/>
            <a:ext cx="13585375" cy="8217634"/>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800" b="0" i="0" dirty="0">
                <a:latin typeface="Comic Sans MS" panose="030F0702030302020204" pitchFamily="66" charset="0"/>
                <a:cs typeface="Arial Narrow" panose="020B0604020202020204" pitchFamily="34" charset="0"/>
              </a:rPr>
              <a:t>What are the results from the performed experiments? If you haven’t quite completed some of the experiments, what are the possible results, and what would they mean? This section is usually in the center of the board to emphasize it. Make sure you articulate your results clearly and with enthusiasm! </a:t>
            </a:r>
            <a:r>
              <a:rPr lang="en-US" sz="4800" b="1" i="0" dirty="0">
                <a:latin typeface="Comic Sans MS" panose="030F0702030302020204" pitchFamily="66" charset="0"/>
                <a:cs typeface="Arial Narrow" panose="020B0604020202020204" pitchFamily="34" charset="0"/>
              </a:rPr>
              <a:t>You can always bold sentences to really emphasize importance. Try to limit words. Figures are more informative and appealing. </a:t>
            </a:r>
            <a:r>
              <a:rPr lang="en-US" sz="4800" b="0" i="0" dirty="0">
                <a:latin typeface="Comic Sans MS" panose="030F0702030302020204" pitchFamily="66" charset="0"/>
                <a:cs typeface="Arial Narrow" panose="020B0604020202020204" pitchFamily="34" charset="0"/>
              </a:rPr>
              <a:t>[48pt Arial Narrow].</a:t>
            </a:r>
            <a:r>
              <a:rPr lang="en-US" sz="4800" b="1" i="0" dirty="0">
                <a:latin typeface="Comic Sans MS" panose="030F0702030302020204" pitchFamily="66" charset="0"/>
                <a:cs typeface="Arial Narrow" panose="020B0604020202020204" pitchFamily="34" charset="0"/>
              </a:rPr>
              <a:t> </a:t>
            </a:r>
          </a:p>
        </p:txBody>
      </p:sp>
      <p:pic>
        <p:nvPicPr>
          <p:cNvPr id="100" name="Picture 99">
            <a:extLst>
              <a:ext uri="{FF2B5EF4-FFF2-40B4-BE49-F238E27FC236}">
                <a16:creationId xmlns:a16="http://schemas.microsoft.com/office/drawing/2014/main" id="{81DAD8A8-EE6A-0DD1-B528-34252A04C1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78227" y="11448577"/>
            <a:ext cx="9721930" cy="7834176"/>
          </a:xfrm>
          <a:prstGeom prst="rect">
            <a:avLst/>
          </a:prstGeom>
        </p:spPr>
      </p:pic>
      <p:sp>
        <p:nvSpPr>
          <p:cNvPr id="101" name="TextBox 100">
            <a:extLst>
              <a:ext uri="{FF2B5EF4-FFF2-40B4-BE49-F238E27FC236}">
                <a16:creationId xmlns:a16="http://schemas.microsoft.com/office/drawing/2014/main" id="{D67A4C68-8198-595C-A33E-F4EAA3DE9F87}"/>
              </a:ext>
            </a:extLst>
          </p:cNvPr>
          <p:cNvSpPr txBox="1"/>
          <p:nvPr userDrawn="1"/>
        </p:nvSpPr>
        <p:spPr>
          <a:xfrm>
            <a:off x="483323" y="19408844"/>
            <a:ext cx="13585375" cy="1754326"/>
          </a:xfrm>
          <a:prstGeom prst="rect">
            <a:avLst/>
          </a:prstGeom>
          <a:noFill/>
        </p:spPr>
        <p:txBody>
          <a:bodyPr wrap="square" rtlCol="0">
            <a:spAutoFit/>
          </a:bodyPr>
          <a:lstStyle/>
          <a:p>
            <a:pPr algn="just"/>
            <a:r>
              <a:rPr lang="en-US" sz="3600" b="0" i="0" dirty="0">
                <a:latin typeface="Comic Sans MS" panose="030F0702030302020204" pitchFamily="66" charset="0"/>
                <a:cs typeface="Arial Narrow" panose="020B0604020202020204" pitchFamily="34" charset="0"/>
              </a:rPr>
              <a:t>Figure 1. A brief description so someone can understand the figure if you aren’t there to explain it. Make sure the figure font is legible when printed!  [36pt Arial Narrow].</a:t>
            </a:r>
          </a:p>
        </p:txBody>
      </p:sp>
      <p:pic>
        <p:nvPicPr>
          <p:cNvPr id="102" name="Picture 101">
            <a:extLst>
              <a:ext uri="{FF2B5EF4-FFF2-40B4-BE49-F238E27FC236}">
                <a16:creationId xmlns:a16="http://schemas.microsoft.com/office/drawing/2014/main" id="{99A648EE-F3C2-25A0-3994-BF08BDD1ACA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633735" y="14866381"/>
            <a:ext cx="14358034" cy="12678539"/>
          </a:xfrm>
          <a:prstGeom prst="rect">
            <a:avLst/>
          </a:prstGeom>
        </p:spPr>
      </p:pic>
      <p:sp>
        <p:nvSpPr>
          <p:cNvPr id="103" name="TextBox 102">
            <a:extLst>
              <a:ext uri="{FF2B5EF4-FFF2-40B4-BE49-F238E27FC236}">
                <a16:creationId xmlns:a16="http://schemas.microsoft.com/office/drawing/2014/main" id="{0E00550A-F065-0C99-D334-FB0E57235828}"/>
              </a:ext>
            </a:extLst>
          </p:cNvPr>
          <p:cNvSpPr txBox="1"/>
          <p:nvPr userDrawn="1"/>
        </p:nvSpPr>
        <p:spPr>
          <a:xfrm>
            <a:off x="15061473" y="27939797"/>
            <a:ext cx="13585375" cy="3970318"/>
          </a:xfrm>
          <a:prstGeom prst="rect">
            <a:avLst/>
          </a:prstGeom>
          <a:noFill/>
        </p:spPr>
        <p:txBody>
          <a:bodyPr wrap="square" rtlCol="0">
            <a:spAutoFit/>
          </a:bodyPr>
          <a:lstStyle/>
          <a:p>
            <a:pPr algn="just"/>
            <a:r>
              <a:rPr lang="en-US" sz="3600" b="0" i="0" dirty="0">
                <a:latin typeface="Comic Sans MS" panose="030F0702030302020204" pitchFamily="66" charset="0"/>
                <a:cs typeface="Arial Narrow" panose="020B0604020202020204" pitchFamily="34" charset="0"/>
              </a:rPr>
              <a:t>Figure 2. a.) Figures and tables are essential to have in this section. Spending time on appealing, informative figures is worthwhile. Tables can be helpful but often that data is better portrayed in a figure/plot, especially if it is a larger table filled with numbers. b.) Multi-panel figures work well when the information is tied together. c.) Make sure to talk about each figure. [36pt Arial Narrow].</a:t>
            </a:r>
            <a:endParaRPr lang="en-US" sz="5600" b="0" i="0" dirty="0">
              <a:latin typeface="Comic Sans MS" panose="030F0702030302020204" pitchFamily="66" charset="0"/>
              <a:cs typeface="Arial Narrow" panose="020B0604020202020204" pitchFamily="34" charset="0"/>
            </a:endParaRPr>
          </a:p>
        </p:txBody>
      </p:sp>
      <p:sp>
        <p:nvSpPr>
          <p:cNvPr id="104" name="TextBox 103">
            <a:extLst>
              <a:ext uri="{FF2B5EF4-FFF2-40B4-BE49-F238E27FC236}">
                <a16:creationId xmlns:a16="http://schemas.microsoft.com/office/drawing/2014/main" id="{11AEE8C3-4DA8-D5A8-EC64-5BA30FC24720}"/>
              </a:ext>
            </a:extLst>
          </p:cNvPr>
          <p:cNvSpPr txBox="1"/>
          <p:nvPr userDrawn="1"/>
        </p:nvSpPr>
        <p:spPr>
          <a:xfrm>
            <a:off x="29514277" y="6887976"/>
            <a:ext cx="13880533" cy="9140964"/>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800" b="0" i="0" dirty="0">
                <a:latin typeface="Comic Sans MS" panose="030F0702030302020204" pitchFamily="66" charset="0"/>
                <a:cs typeface="Arial Narrow" panose="020B0604020202020204" pitchFamily="34" charset="0"/>
              </a:rPr>
              <a:t>What do your results mean? This section can be closely tied with ”Future Directions” and you may not need to separate them into different sections. Some general rules for any section:</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400" b="0" i="0" dirty="0">
                <a:latin typeface="Comic Sans MS" panose="030F0702030302020204" pitchFamily="66" charset="0"/>
                <a:cs typeface="Arial Narrow" panose="020B0604020202020204" pitchFamily="34" charset="0"/>
              </a:rPr>
              <a:t>Lists/bullet points can be nice. Concise language is best.</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400" b="0" i="0" dirty="0">
                <a:latin typeface="Comic Sans MS" panose="030F0702030302020204" pitchFamily="66" charset="0"/>
                <a:cs typeface="Arial Narrow" panose="020B0604020202020204" pitchFamily="34" charset="0"/>
              </a:rPr>
              <a:t>White space makes the poster look less busy, and usually more appealing to the audience.</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400" b="0" i="0" dirty="0">
                <a:latin typeface="Comic Sans MS" panose="030F0702030302020204" pitchFamily="66" charset="0"/>
                <a:cs typeface="Arial Narrow" panose="020B0604020202020204" pitchFamily="34" charset="0"/>
              </a:rPr>
              <a:t>Stick to 3 or less main colors if possible.</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400" b="0" i="0" dirty="0">
                <a:latin typeface="Comic Sans MS" panose="030F0702030302020204" pitchFamily="66" charset="0"/>
                <a:cs typeface="Arial Narrow" panose="020B0604020202020204" pitchFamily="34" charset="0"/>
              </a:rPr>
              <a:t>Be consistent with fonts and section sizes</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400" b="0" i="0" dirty="0">
                <a:latin typeface="Comic Sans MS" panose="030F0702030302020204" pitchFamily="66" charset="0"/>
                <a:cs typeface="Arial Narrow" panose="020B0604020202020204" pitchFamily="34" charset="0"/>
              </a:rPr>
              <a:t>Make sure figure text is legible</a:t>
            </a:r>
          </a:p>
          <a:p>
            <a:pPr marL="914400" marR="0" lvl="0" indent="-914400" algn="just" defTabSz="3686861" rtl="0" eaLnBrk="1" fontAlgn="auto" latinLnBrk="0" hangingPunct="1">
              <a:lnSpc>
                <a:spcPct val="100000"/>
              </a:lnSpc>
              <a:spcBef>
                <a:spcPts val="0"/>
              </a:spcBef>
              <a:spcAft>
                <a:spcPts val="0"/>
              </a:spcAft>
              <a:buClrTx/>
              <a:buSzTx/>
              <a:buFontTx/>
              <a:buAutoNum type="arabicPeriod"/>
              <a:tabLst/>
              <a:defRPr/>
            </a:pPr>
            <a:r>
              <a:rPr lang="en-US" sz="4400" b="0" i="0" dirty="0">
                <a:latin typeface="Comic Sans MS" panose="030F0702030302020204" pitchFamily="66" charset="0"/>
                <a:cs typeface="Arial Narrow" panose="020B0604020202020204" pitchFamily="34" charset="0"/>
              </a:rPr>
              <a:t>This example poster has a LOT of text. Try to make your poster have less.  Figures &gt; text. </a:t>
            </a:r>
          </a:p>
        </p:txBody>
      </p:sp>
      <p:sp>
        <p:nvSpPr>
          <p:cNvPr id="105" name="Rectangle 104">
            <a:extLst>
              <a:ext uri="{FF2B5EF4-FFF2-40B4-BE49-F238E27FC236}">
                <a16:creationId xmlns:a16="http://schemas.microsoft.com/office/drawing/2014/main" id="{C7270E9E-F24A-F4F2-56E8-D61AEFF2A4F2}"/>
              </a:ext>
            </a:extLst>
          </p:cNvPr>
          <p:cNvSpPr/>
          <p:nvPr userDrawn="1"/>
        </p:nvSpPr>
        <p:spPr>
          <a:xfrm>
            <a:off x="29514276" y="18428473"/>
            <a:ext cx="13880533" cy="6001643"/>
          </a:xfrm>
          <a:prstGeom prst="rect">
            <a:avLst/>
          </a:prstGeom>
        </p:spPr>
        <p:txBody>
          <a:bodyPr wrap="square">
            <a:spAutoFit/>
          </a:bodyPr>
          <a:lstStyle/>
          <a:p>
            <a:r>
              <a:rPr lang="en-US" sz="4800" b="0" i="0" dirty="0">
                <a:latin typeface="Comic Sans MS" panose="030F0702030302020204" pitchFamily="66" charset="0"/>
                <a:cs typeface="Arial Narrow" panose="020B0604020202020204" pitchFamily="34" charset="0"/>
              </a:rPr>
              <a:t>You do not have to restrain yourself to these typical section titles. You can be more description, which ends up saving word-space as well. For example, instead of “Main Findings” you could make that heading “Truncation Schemes Alter Optimized Positions”, or something that concisely explains the main takeaway of that section.</a:t>
            </a:r>
            <a:endParaRPr lang="en-US" sz="4800" dirty="0">
              <a:latin typeface="Comic Sans MS" panose="030F0702030302020204" pitchFamily="66" charset="0"/>
            </a:endParaRPr>
          </a:p>
        </p:txBody>
      </p:sp>
      <p:sp>
        <p:nvSpPr>
          <p:cNvPr id="106" name="Rectangle 105">
            <a:extLst>
              <a:ext uri="{FF2B5EF4-FFF2-40B4-BE49-F238E27FC236}">
                <a16:creationId xmlns:a16="http://schemas.microsoft.com/office/drawing/2014/main" id="{2F1B6312-7777-13B9-B0B5-3830D44602E7}"/>
              </a:ext>
            </a:extLst>
          </p:cNvPr>
          <p:cNvSpPr/>
          <p:nvPr userDrawn="1"/>
        </p:nvSpPr>
        <p:spPr>
          <a:xfrm>
            <a:off x="29639623" y="26876390"/>
            <a:ext cx="13585375" cy="3785652"/>
          </a:xfrm>
          <a:prstGeom prst="rect">
            <a:avLst/>
          </a:prstGeom>
        </p:spPr>
        <p:txBody>
          <a:bodyPr wrap="square">
            <a:spAutoFit/>
          </a:bodyPr>
          <a:lstStyle/>
          <a:p>
            <a:r>
              <a:rPr lang="en-US" sz="4800" b="0" i="0" dirty="0">
                <a:latin typeface="Comic Sans MS" panose="030F0702030302020204" pitchFamily="66" charset="0"/>
                <a:cs typeface="Arial Narrow" panose="020B0604020202020204" pitchFamily="34" charset="0"/>
              </a:rPr>
              <a:t>You probably want to thank your research advisor and any other mentors. This is also the space to list any scholarships/internships or funding that made it easier/possible for you to do undergraduate research.</a:t>
            </a:r>
            <a:endParaRPr lang="en-US" sz="4800" dirty="0">
              <a:latin typeface="Comic Sans MS" panose="030F0702030302020204" pitchFamily="66" charset="0"/>
            </a:endParaRPr>
          </a:p>
        </p:txBody>
      </p:sp>
      <p:cxnSp>
        <p:nvCxnSpPr>
          <p:cNvPr id="107" name="Straight Connector 106">
            <a:extLst>
              <a:ext uri="{FF2B5EF4-FFF2-40B4-BE49-F238E27FC236}">
                <a16:creationId xmlns:a16="http://schemas.microsoft.com/office/drawing/2014/main" id="{BF0D29D1-F39F-75BE-4EA2-161E573104CE}"/>
              </a:ext>
            </a:extLst>
          </p:cNvPr>
          <p:cNvCxnSpPr>
            <a:cxnSpLocks/>
          </p:cNvCxnSpPr>
          <p:nvPr userDrawn="1"/>
        </p:nvCxnSpPr>
        <p:spPr>
          <a:xfrm flipH="1">
            <a:off x="14395264" y="4323960"/>
            <a:ext cx="2" cy="26058798"/>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F48B0F4-4759-ABFD-85D8-68DEF1ED06C1}"/>
              </a:ext>
            </a:extLst>
          </p:cNvPr>
          <p:cNvCxnSpPr>
            <a:cxnSpLocks/>
          </p:cNvCxnSpPr>
          <p:nvPr userDrawn="1"/>
        </p:nvCxnSpPr>
        <p:spPr>
          <a:xfrm>
            <a:off x="28991769" y="4323960"/>
            <a:ext cx="0" cy="26058798"/>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xmlns:a16="http://schemas.microsoft.com/office/drawing/2014/main" id="{A33FEB78-D1B9-FC65-A2A3-1629352BDB54}"/>
              </a:ext>
            </a:extLst>
          </p:cNvPr>
          <p:cNvSpPr/>
          <p:nvPr userDrawn="1"/>
        </p:nvSpPr>
        <p:spPr>
          <a:xfrm>
            <a:off x="14348931" y="2982841"/>
            <a:ext cx="14853693" cy="830997"/>
          </a:xfrm>
          <a:prstGeom prst="rect">
            <a:avLst/>
          </a:prstGeom>
        </p:spPr>
        <p:txBody>
          <a:bodyPr wrap="square">
            <a:spAutoFit/>
          </a:bodyPr>
          <a:lstStyle/>
          <a:p>
            <a:pPr algn="ctr"/>
            <a:r>
              <a:rPr lang="en-US" sz="4800" b="1" i="0" dirty="0">
                <a:latin typeface="Comic Sans MS" panose="030F0702030302020204" pitchFamily="66" charset="0"/>
                <a:cs typeface="Arial Narrow" panose="020B0604020202020204" pitchFamily="34" charset="0"/>
              </a:rPr>
              <a:t>College of ???</a:t>
            </a:r>
          </a:p>
        </p:txBody>
      </p:sp>
    </p:spTree>
    <p:extLst>
      <p:ext uri="{BB962C8B-B14F-4D97-AF65-F5344CB8AC3E}">
        <p14:creationId xmlns:p14="http://schemas.microsoft.com/office/powerpoint/2010/main" val="10431484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image" Target="../media/image6.jp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D9B1F4-607E-1744-A84E-73868678420F}"/>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7023" t="4304" r="16270" b="60098"/>
          <a:stretch/>
        </p:blipFill>
        <p:spPr>
          <a:xfrm>
            <a:off x="32787771" y="30387440"/>
            <a:ext cx="11136422" cy="2471318"/>
          </a:xfrm>
          <a:prstGeom prst="rect">
            <a:avLst/>
          </a:prstGeom>
        </p:spPr>
      </p:pic>
      <p:cxnSp>
        <p:nvCxnSpPr>
          <p:cNvPr id="4" name="Straight Connector 3">
            <a:extLst>
              <a:ext uri="{FF2B5EF4-FFF2-40B4-BE49-F238E27FC236}">
                <a16:creationId xmlns:a16="http://schemas.microsoft.com/office/drawing/2014/main" id="{69C03930-0C00-C744-A788-3C83764F8ECF}"/>
              </a:ext>
            </a:extLst>
          </p:cNvPr>
          <p:cNvCxnSpPr>
            <a:cxnSpLocks/>
          </p:cNvCxnSpPr>
          <p:nvPr userDrawn="1"/>
        </p:nvCxnSpPr>
        <p:spPr>
          <a:xfrm>
            <a:off x="-9490" y="3555881"/>
            <a:ext cx="43891200" cy="0"/>
          </a:xfrm>
          <a:prstGeom prst="line">
            <a:avLst/>
          </a:prstGeom>
          <a:ln w="190500">
            <a:solidFill>
              <a:srgbClr val="C8C27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CD17E5F-3285-7B45-9797-5B988C1C6A06}"/>
              </a:ext>
            </a:extLst>
          </p:cNvPr>
          <p:cNvCxnSpPr>
            <a:cxnSpLocks/>
          </p:cNvCxnSpPr>
          <p:nvPr userDrawn="1"/>
        </p:nvCxnSpPr>
        <p:spPr>
          <a:xfrm>
            <a:off x="-14514" y="3829244"/>
            <a:ext cx="43891200" cy="0"/>
          </a:xfrm>
          <a:prstGeom prst="line">
            <a:avLst/>
          </a:prstGeom>
          <a:ln w="190500">
            <a:solidFill>
              <a:srgbClr val="014C2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4856565-B913-6142-8F59-2C3341D0E3C8}"/>
              </a:ext>
            </a:extLst>
          </p:cNvPr>
          <p:cNvCxnSpPr>
            <a:cxnSpLocks/>
          </p:cNvCxnSpPr>
          <p:nvPr userDrawn="1"/>
        </p:nvCxnSpPr>
        <p:spPr>
          <a:xfrm>
            <a:off x="5024" y="29840714"/>
            <a:ext cx="43891200" cy="0"/>
          </a:xfrm>
          <a:prstGeom prst="line">
            <a:avLst/>
          </a:prstGeom>
          <a:ln w="190500">
            <a:solidFill>
              <a:srgbClr val="C8C27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DDD346E-73F0-6F41-A0DB-CCE5B7881591}"/>
              </a:ext>
            </a:extLst>
          </p:cNvPr>
          <p:cNvCxnSpPr>
            <a:cxnSpLocks/>
          </p:cNvCxnSpPr>
          <p:nvPr userDrawn="1"/>
        </p:nvCxnSpPr>
        <p:spPr>
          <a:xfrm>
            <a:off x="0" y="30114077"/>
            <a:ext cx="43891200" cy="0"/>
          </a:xfrm>
          <a:prstGeom prst="line">
            <a:avLst/>
          </a:prstGeom>
          <a:ln w="190500">
            <a:solidFill>
              <a:srgbClr val="014C22"/>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0055E80F-CA72-731F-ACC9-FB0061CC10C9}"/>
              </a:ext>
            </a:extLst>
          </p:cNvPr>
          <p:cNvGrpSpPr/>
          <p:nvPr userDrawn="1"/>
        </p:nvGrpSpPr>
        <p:grpSpPr>
          <a:xfrm>
            <a:off x="22701250" y="30235698"/>
            <a:ext cx="10550094" cy="2657988"/>
            <a:chOff x="20561299" y="23194323"/>
            <a:chExt cx="10947401" cy="2869531"/>
          </a:xfrm>
        </p:grpSpPr>
        <p:sp>
          <p:nvSpPr>
            <p:cNvPr id="19" name="Rectangle 18">
              <a:extLst>
                <a:ext uri="{FF2B5EF4-FFF2-40B4-BE49-F238E27FC236}">
                  <a16:creationId xmlns:a16="http://schemas.microsoft.com/office/drawing/2014/main" id="{B0631FC6-DECE-B314-DC2B-07A91DB20334}"/>
                </a:ext>
              </a:extLst>
            </p:cNvPr>
            <p:cNvSpPr/>
            <p:nvPr userDrawn="1"/>
          </p:nvSpPr>
          <p:spPr>
            <a:xfrm>
              <a:off x="20561299" y="23194323"/>
              <a:ext cx="10947401" cy="286953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C7A0D4D3-25B1-77EE-9066-0E1FEF468D26}"/>
                </a:ext>
              </a:extLst>
            </p:cNvPr>
            <p:cNvGrpSpPr/>
            <p:nvPr userDrawn="1"/>
          </p:nvGrpSpPr>
          <p:grpSpPr>
            <a:xfrm>
              <a:off x="20711427" y="23254720"/>
              <a:ext cx="5359913" cy="2627212"/>
              <a:chOff x="18087690" y="21531114"/>
              <a:chExt cx="5578761" cy="2734482"/>
            </a:xfrm>
          </p:grpSpPr>
          <p:pic>
            <p:nvPicPr>
              <p:cNvPr id="11" name="Picture 10" descr="Text&#10;&#10;Description automatically generated">
                <a:extLst>
                  <a:ext uri="{FF2B5EF4-FFF2-40B4-BE49-F238E27FC236}">
                    <a16:creationId xmlns:a16="http://schemas.microsoft.com/office/drawing/2014/main" id="{B37358C0-04A5-3703-85E9-A3EC1222E7BC}"/>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2500" t="16901" r="68997" b="13803"/>
              <a:stretch/>
            </p:blipFill>
            <p:spPr>
              <a:xfrm>
                <a:off x="18087690" y="21531114"/>
                <a:ext cx="2704697" cy="2734482"/>
              </a:xfrm>
              <a:prstGeom prst="rect">
                <a:avLst/>
              </a:prstGeom>
              <a:ln>
                <a:noFill/>
              </a:ln>
            </p:spPr>
          </p:pic>
          <p:sp>
            <p:nvSpPr>
              <p:cNvPr id="14" name="Rectangle 13">
                <a:extLst>
                  <a:ext uri="{FF2B5EF4-FFF2-40B4-BE49-F238E27FC236}">
                    <a16:creationId xmlns:a16="http://schemas.microsoft.com/office/drawing/2014/main" id="{A52F28F5-CCB3-AC56-F333-7917B961A402}"/>
                  </a:ext>
                </a:extLst>
              </p:cNvPr>
              <p:cNvSpPr/>
              <p:nvPr userDrawn="1"/>
            </p:nvSpPr>
            <p:spPr>
              <a:xfrm>
                <a:off x="22904451" y="23876000"/>
                <a:ext cx="7620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6" name="Picture 5" descr="A black background with yellow and green text&#10;&#10;Description automatically generated">
            <a:extLst>
              <a:ext uri="{FF2B5EF4-FFF2-40B4-BE49-F238E27FC236}">
                <a16:creationId xmlns:a16="http://schemas.microsoft.com/office/drawing/2014/main" id="{57D1800A-5277-7CDF-3D98-926DFDD0C69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5192803" y="30447418"/>
            <a:ext cx="7752381" cy="2066667"/>
          </a:xfrm>
          <a:prstGeom prst="rect">
            <a:avLst/>
          </a:prstGeom>
        </p:spPr>
      </p:pic>
    </p:spTree>
    <p:extLst>
      <p:ext uri="{BB962C8B-B14F-4D97-AF65-F5344CB8AC3E}">
        <p14:creationId xmlns:p14="http://schemas.microsoft.com/office/powerpoint/2010/main" val="3281070204"/>
      </p:ext>
    </p:extLst>
  </p:cSld>
  <p:clrMap bg1="lt1" tx1="dk1" bg2="lt2" tx2="dk2" accent1="accent1" accent2="accent2" accent3="accent3" accent4="accent4" accent5="accent5" accent6="accent6" hlink="hlink" folHlink="folHlink"/>
  <p:sldLayoutIdLst>
    <p:sldLayoutId id="2147483666" r:id="rId1"/>
    <p:sldLayoutId id="2147483665" r:id="rId2"/>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D9B1F4-607E-1744-A84E-73868678420F}"/>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7023" t="4304" r="16270" b="60098"/>
          <a:stretch/>
        </p:blipFill>
        <p:spPr>
          <a:xfrm>
            <a:off x="31350856" y="2556754"/>
            <a:ext cx="12518571" cy="2778035"/>
          </a:xfrm>
          <a:prstGeom prst="rect">
            <a:avLst/>
          </a:prstGeom>
        </p:spPr>
      </p:pic>
      <p:cxnSp>
        <p:nvCxnSpPr>
          <p:cNvPr id="4" name="Straight Connector 3">
            <a:extLst>
              <a:ext uri="{FF2B5EF4-FFF2-40B4-BE49-F238E27FC236}">
                <a16:creationId xmlns:a16="http://schemas.microsoft.com/office/drawing/2014/main" id="{69C03930-0C00-C744-A788-3C83764F8ECF}"/>
              </a:ext>
            </a:extLst>
          </p:cNvPr>
          <p:cNvCxnSpPr>
            <a:cxnSpLocks/>
          </p:cNvCxnSpPr>
          <p:nvPr userDrawn="1"/>
        </p:nvCxnSpPr>
        <p:spPr>
          <a:xfrm>
            <a:off x="-9490" y="5606749"/>
            <a:ext cx="43891200" cy="0"/>
          </a:xfrm>
          <a:prstGeom prst="line">
            <a:avLst/>
          </a:prstGeom>
          <a:ln w="190500">
            <a:solidFill>
              <a:srgbClr val="C8C27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CD17E5F-3285-7B45-9797-5B988C1C6A06}"/>
              </a:ext>
            </a:extLst>
          </p:cNvPr>
          <p:cNvCxnSpPr>
            <a:cxnSpLocks/>
          </p:cNvCxnSpPr>
          <p:nvPr userDrawn="1"/>
        </p:nvCxnSpPr>
        <p:spPr>
          <a:xfrm>
            <a:off x="-14514" y="5880112"/>
            <a:ext cx="43891200" cy="0"/>
          </a:xfrm>
          <a:prstGeom prst="line">
            <a:avLst/>
          </a:prstGeom>
          <a:ln w="190500">
            <a:solidFill>
              <a:srgbClr val="014C2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700347A-6274-C544-8C94-7C336C901923}"/>
              </a:ext>
            </a:extLst>
          </p:cNvPr>
          <p:cNvCxnSpPr>
            <a:cxnSpLocks/>
          </p:cNvCxnSpPr>
          <p:nvPr userDrawn="1"/>
        </p:nvCxnSpPr>
        <p:spPr>
          <a:xfrm>
            <a:off x="-104505" y="2424103"/>
            <a:ext cx="43891200" cy="0"/>
          </a:xfrm>
          <a:prstGeom prst="line">
            <a:avLst/>
          </a:prstGeom>
          <a:ln w="101600">
            <a:solidFill>
              <a:srgbClr val="014C22"/>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A38056B6-9030-CDC3-9251-179375BFE199}"/>
              </a:ext>
            </a:extLst>
          </p:cNvPr>
          <p:cNvGrpSpPr/>
          <p:nvPr userDrawn="1"/>
        </p:nvGrpSpPr>
        <p:grpSpPr>
          <a:xfrm>
            <a:off x="331107" y="2696064"/>
            <a:ext cx="10550094" cy="2657988"/>
            <a:chOff x="20561299" y="23194323"/>
            <a:chExt cx="10947401" cy="2869531"/>
          </a:xfrm>
        </p:grpSpPr>
        <p:sp>
          <p:nvSpPr>
            <p:cNvPr id="13" name="Rectangle 12">
              <a:extLst>
                <a:ext uri="{FF2B5EF4-FFF2-40B4-BE49-F238E27FC236}">
                  <a16:creationId xmlns:a16="http://schemas.microsoft.com/office/drawing/2014/main" id="{0049C8C6-6A9B-404C-E1C2-32BCF0085BB4}"/>
                </a:ext>
              </a:extLst>
            </p:cNvPr>
            <p:cNvSpPr/>
            <p:nvPr userDrawn="1"/>
          </p:nvSpPr>
          <p:spPr>
            <a:xfrm>
              <a:off x="20561299" y="23194323"/>
              <a:ext cx="10947401" cy="286953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F320AD6-C6E0-9C98-4C3E-5A6F4D710FD0}"/>
                </a:ext>
              </a:extLst>
            </p:cNvPr>
            <p:cNvGrpSpPr/>
            <p:nvPr userDrawn="1"/>
          </p:nvGrpSpPr>
          <p:grpSpPr>
            <a:xfrm>
              <a:off x="20711427" y="23254720"/>
              <a:ext cx="5359912" cy="2627212"/>
              <a:chOff x="18087690" y="21531114"/>
              <a:chExt cx="5578760" cy="2734482"/>
            </a:xfrm>
          </p:grpSpPr>
          <p:pic>
            <p:nvPicPr>
              <p:cNvPr id="15" name="Picture 14" descr="Text&#10;&#10;Description automatically generated">
                <a:extLst>
                  <a:ext uri="{FF2B5EF4-FFF2-40B4-BE49-F238E27FC236}">
                    <a16:creationId xmlns:a16="http://schemas.microsoft.com/office/drawing/2014/main" id="{24113D54-A2E1-7161-D158-E31D1CD56D6F}"/>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2500" t="16901" r="68997" b="13803"/>
              <a:stretch/>
            </p:blipFill>
            <p:spPr>
              <a:xfrm>
                <a:off x="18087690" y="21531114"/>
                <a:ext cx="2704697" cy="2734482"/>
              </a:xfrm>
              <a:prstGeom prst="rect">
                <a:avLst/>
              </a:prstGeom>
              <a:ln>
                <a:noFill/>
              </a:ln>
            </p:spPr>
          </p:pic>
          <p:sp>
            <p:nvSpPr>
              <p:cNvPr id="18" name="Rectangle 17">
                <a:extLst>
                  <a:ext uri="{FF2B5EF4-FFF2-40B4-BE49-F238E27FC236}">
                    <a16:creationId xmlns:a16="http://schemas.microsoft.com/office/drawing/2014/main" id="{0AF955DD-3CB0-C5B8-A628-ECF6FD3E2F42}"/>
                  </a:ext>
                </a:extLst>
              </p:cNvPr>
              <p:cNvSpPr/>
              <p:nvPr userDrawn="1"/>
            </p:nvSpPr>
            <p:spPr>
              <a:xfrm>
                <a:off x="22904450" y="23876000"/>
                <a:ext cx="7620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7" name="Picture 6" descr="A black background with yellow and green text&#10;&#10;Description automatically generated">
            <a:extLst>
              <a:ext uri="{FF2B5EF4-FFF2-40B4-BE49-F238E27FC236}">
                <a16:creationId xmlns:a16="http://schemas.microsoft.com/office/drawing/2014/main" id="{DA2D12F7-C1E3-712C-61F2-3114CCD10A8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80073" y="2982093"/>
            <a:ext cx="7752381" cy="2066667"/>
          </a:xfrm>
          <a:prstGeom prst="rect">
            <a:avLst/>
          </a:prstGeom>
        </p:spPr>
      </p:pic>
    </p:spTree>
    <p:extLst>
      <p:ext uri="{BB962C8B-B14F-4D97-AF65-F5344CB8AC3E}">
        <p14:creationId xmlns:p14="http://schemas.microsoft.com/office/powerpoint/2010/main" val="211657543"/>
      </p:ext>
    </p:extLst>
  </p:cSld>
  <p:clrMap bg1="lt1" tx1="dk1" bg2="lt2" tx2="dk2" accent1="accent1" accent2="accent2" accent3="accent3" accent4="accent4" accent5="accent5" accent6="accent6" hlink="hlink" folHlink="folHlink"/>
  <p:sldLayoutIdLst>
    <p:sldLayoutId id="2147483679" r:id="rId1"/>
    <p:sldLayoutId id="2147483678" r:id="rId2"/>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5B36B80-FF80-8143-A24E-5C6C9C43344C}"/>
              </a:ext>
            </a:extLst>
          </p:cNvPr>
          <p:cNvCxnSpPr>
            <a:cxnSpLocks/>
          </p:cNvCxnSpPr>
          <p:nvPr userDrawn="1"/>
        </p:nvCxnSpPr>
        <p:spPr>
          <a:xfrm>
            <a:off x="-9490" y="4775081"/>
            <a:ext cx="43891200" cy="0"/>
          </a:xfrm>
          <a:prstGeom prst="line">
            <a:avLst/>
          </a:prstGeom>
          <a:ln w="190500">
            <a:solidFill>
              <a:srgbClr val="C8C27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9B50A8C-0491-024D-BE50-6C8ACAFC9413}"/>
              </a:ext>
            </a:extLst>
          </p:cNvPr>
          <p:cNvCxnSpPr>
            <a:cxnSpLocks/>
          </p:cNvCxnSpPr>
          <p:nvPr userDrawn="1"/>
        </p:nvCxnSpPr>
        <p:spPr>
          <a:xfrm>
            <a:off x="-14514" y="4972244"/>
            <a:ext cx="43891200" cy="0"/>
          </a:xfrm>
          <a:prstGeom prst="line">
            <a:avLst/>
          </a:prstGeom>
          <a:ln w="190500">
            <a:solidFill>
              <a:srgbClr val="014C22"/>
            </a:solidFill>
          </a:ln>
        </p:spPr>
        <p:style>
          <a:lnRef idx="1">
            <a:schemeClr val="accent1"/>
          </a:lnRef>
          <a:fillRef idx="0">
            <a:schemeClr val="accent1"/>
          </a:fillRef>
          <a:effectRef idx="0">
            <a:schemeClr val="accent1"/>
          </a:effectRef>
          <a:fontRef idx="minor">
            <a:schemeClr val="tx1"/>
          </a:fontRef>
        </p:style>
      </p:cxnSp>
      <p:pic>
        <p:nvPicPr>
          <p:cNvPr id="3" name="Picture 2" descr="A white rectangular sign with green and yellow text&#10;&#10;Description automatically generated">
            <a:extLst>
              <a:ext uri="{FF2B5EF4-FFF2-40B4-BE49-F238E27FC236}">
                <a16:creationId xmlns:a16="http://schemas.microsoft.com/office/drawing/2014/main" id="{5D4A5BD9-F83F-272B-C030-6478980E9B6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9247" y="36185"/>
            <a:ext cx="12915900" cy="4619625"/>
          </a:xfrm>
          <a:prstGeom prst="rect">
            <a:avLst/>
          </a:prstGeom>
        </p:spPr>
      </p:pic>
    </p:spTree>
    <p:extLst>
      <p:ext uri="{BB962C8B-B14F-4D97-AF65-F5344CB8AC3E}">
        <p14:creationId xmlns:p14="http://schemas.microsoft.com/office/powerpoint/2010/main" val="1753298585"/>
      </p:ext>
    </p:extLst>
  </p:cSld>
  <p:clrMap bg1="lt1" tx1="dk1" bg2="lt2" tx2="dk2" accent1="accent1" accent2="accent2" accent3="accent3" accent4="accent4" accent5="accent5" accent6="accent6" hlink="hlink" folHlink="folHlink"/>
  <p:sldLayoutIdLst>
    <p:sldLayoutId id="2147483680" r:id="rId1"/>
    <p:sldLayoutId id="2147483663" r:id="rId2"/>
  </p:sldLayoutIdLst>
  <p:txStyles>
    <p:titleStyle>
      <a:lvl1pPr algn="l" defTabSz="3291758" rtl="0" eaLnBrk="1" latinLnBrk="0" hangingPunct="1">
        <a:lnSpc>
          <a:spcPct val="90000"/>
        </a:lnSpc>
        <a:spcBef>
          <a:spcPct val="0"/>
        </a:spcBef>
        <a:buNone/>
        <a:defRPr sz="15839" kern="1200">
          <a:solidFill>
            <a:schemeClr val="tx1"/>
          </a:solidFill>
          <a:latin typeface="+mj-lt"/>
          <a:ea typeface="+mj-ea"/>
          <a:cs typeface="+mj-cs"/>
        </a:defRPr>
      </a:lvl1pPr>
    </p:titleStyle>
    <p:bodyStyle>
      <a:lvl1pPr marL="822940" indent="-822940" algn="l" defTabSz="3291758"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19" indent="-822940" algn="l" defTabSz="3291758"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697" indent="-822940" algn="l" defTabSz="3291758"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576" indent="-822940" algn="l" defTabSz="3291758"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455" indent="-822940" algn="l" defTabSz="3291758"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334" indent="-822940" algn="l" defTabSz="3291758"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212" indent="-822940" algn="l" defTabSz="3291758"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092" indent="-822940" algn="l" defTabSz="3291758"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89971" indent="-822940" algn="l" defTabSz="3291758"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758" rtl="0" eaLnBrk="1" latinLnBrk="0" hangingPunct="1">
        <a:defRPr sz="6480" kern="1200">
          <a:solidFill>
            <a:schemeClr val="tx1"/>
          </a:solidFill>
          <a:latin typeface="+mn-lt"/>
          <a:ea typeface="+mn-ea"/>
          <a:cs typeface="+mn-cs"/>
        </a:defRPr>
      </a:lvl1pPr>
      <a:lvl2pPr marL="1645879" algn="l" defTabSz="3291758" rtl="0" eaLnBrk="1" latinLnBrk="0" hangingPunct="1">
        <a:defRPr sz="6480" kern="1200">
          <a:solidFill>
            <a:schemeClr val="tx1"/>
          </a:solidFill>
          <a:latin typeface="+mn-lt"/>
          <a:ea typeface="+mn-ea"/>
          <a:cs typeface="+mn-cs"/>
        </a:defRPr>
      </a:lvl2pPr>
      <a:lvl3pPr marL="3291758" algn="l" defTabSz="3291758" rtl="0" eaLnBrk="1" latinLnBrk="0" hangingPunct="1">
        <a:defRPr sz="6480" kern="1200">
          <a:solidFill>
            <a:schemeClr val="tx1"/>
          </a:solidFill>
          <a:latin typeface="+mn-lt"/>
          <a:ea typeface="+mn-ea"/>
          <a:cs typeface="+mn-cs"/>
        </a:defRPr>
      </a:lvl3pPr>
      <a:lvl4pPr marL="4937636" algn="l" defTabSz="3291758" rtl="0" eaLnBrk="1" latinLnBrk="0" hangingPunct="1">
        <a:defRPr sz="6480" kern="1200">
          <a:solidFill>
            <a:schemeClr val="tx1"/>
          </a:solidFill>
          <a:latin typeface="+mn-lt"/>
          <a:ea typeface="+mn-ea"/>
          <a:cs typeface="+mn-cs"/>
        </a:defRPr>
      </a:lvl4pPr>
      <a:lvl5pPr marL="6583516" algn="l" defTabSz="3291758" rtl="0" eaLnBrk="1" latinLnBrk="0" hangingPunct="1">
        <a:defRPr sz="6480" kern="1200">
          <a:solidFill>
            <a:schemeClr val="tx1"/>
          </a:solidFill>
          <a:latin typeface="+mn-lt"/>
          <a:ea typeface="+mn-ea"/>
          <a:cs typeface="+mn-cs"/>
        </a:defRPr>
      </a:lvl5pPr>
      <a:lvl6pPr marL="8229395" algn="l" defTabSz="3291758" rtl="0" eaLnBrk="1" latinLnBrk="0" hangingPunct="1">
        <a:defRPr sz="6480" kern="1200">
          <a:solidFill>
            <a:schemeClr val="tx1"/>
          </a:solidFill>
          <a:latin typeface="+mn-lt"/>
          <a:ea typeface="+mn-ea"/>
          <a:cs typeface="+mn-cs"/>
        </a:defRPr>
      </a:lvl6pPr>
      <a:lvl7pPr marL="9875273" algn="l" defTabSz="3291758" rtl="0" eaLnBrk="1" latinLnBrk="0" hangingPunct="1">
        <a:defRPr sz="6480" kern="1200">
          <a:solidFill>
            <a:schemeClr val="tx1"/>
          </a:solidFill>
          <a:latin typeface="+mn-lt"/>
          <a:ea typeface="+mn-ea"/>
          <a:cs typeface="+mn-cs"/>
        </a:defRPr>
      </a:lvl7pPr>
      <a:lvl8pPr marL="11521152" algn="l" defTabSz="3291758" rtl="0" eaLnBrk="1" latinLnBrk="0" hangingPunct="1">
        <a:defRPr sz="6480" kern="1200">
          <a:solidFill>
            <a:schemeClr val="tx1"/>
          </a:solidFill>
          <a:latin typeface="+mn-lt"/>
          <a:ea typeface="+mn-ea"/>
          <a:cs typeface="+mn-cs"/>
        </a:defRPr>
      </a:lvl8pPr>
      <a:lvl9pPr marL="13167031" algn="l" defTabSz="3291758" rtl="0" eaLnBrk="1" latinLnBrk="0" hangingPunct="1">
        <a:defRPr sz="648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C8C271"/>
            </a:gs>
            <a:gs pos="100000">
              <a:schemeClr val="bg1"/>
            </a:gs>
          </a:gsLst>
          <a:lin ang="5400000" scaled="1"/>
        </a:gradFill>
        <a:effectLst/>
      </p:bgPr>
    </p:bg>
    <p:spTree>
      <p:nvGrpSpPr>
        <p:cNvPr id="1" name=""/>
        <p:cNvGrpSpPr/>
        <p:nvPr/>
      </p:nvGrpSpPr>
      <p:grpSpPr>
        <a:xfrm>
          <a:off x="0" y="0"/>
          <a:ext cx="0" cy="0"/>
          <a:chOff x="0" y="0"/>
          <a:chExt cx="0" cy="0"/>
        </a:xfrm>
      </p:grpSpPr>
      <p:cxnSp>
        <p:nvCxnSpPr>
          <p:cNvPr id="64" name="Straight Connector 63">
            <a:extLst>
              <a:ext uri="{FF2B5EF4-FFF2-40B4-BE49-F238E27FC236}">
                <a16:creationId xmlns:a16="http://schemas.microsoft.com/office/drawing/2014/main" id="{625F5313-07C0-9C3D-C4EE-FE63CA7B4FD6}"/>
              </a:ext>
            </a:extLst>
          </p:cNvPr>
          <p:cNvCxnSpPr>
            <a:cxnSpLocks/>
          </p:cNvCxnSpPr>
          <p:nvPr userDrawn="1"/>
        </p:nvCxnSpPr>
        <p:spPr>
          <a:xfrm>
            <a:off x="-4963" y="4127606"/>
            <a:ext cx="43891200" cy="0"/>
          </a:xfrm>
          <a:prstGeom prst="line">
            <a:avLst/>
          </a:prstGeom>
          <a:ln w="101600">
            <a:solidFill>
              <a:srgbClr val="014C22"/>
            </a:solidFill>
          </a:ln>
        </p:spPr>
        <p:style>
          <a:lnRef idx="1">
            <a:schemeClr val="accent1"/>
          </a:lnRef>
          <a:fillRef idx="0">
            <a:schemeClr val="accent1"/>
          </a:fillRef>
          <a:effectRef idx="0">
            <a:schemeClr val="accent1"/>
          </a:effectRef>
          <a:fontRef idx="minor">
            <a:schemeClr val="tx1"/>
          </a:fontRef>
        </p:style>
      </p:cxnSp>
      <p:pic>
        <p:nvPicPr>
          <p:cNvPr id="65" name="Picture 64" descr="Logo, icon&#10;&#10;Description automatically generated">
            <a:extLst>
              <a:ext uri="{FF2B5EF4-FFF2-40B4-BE49-F238E27FC236}">
                <a16:creationId xmlns:a16="http://schemas.microsoft.com/office/drawing/2014/main" id="{03F21BB7-ABD9-E739-D0EC-42186520C96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9897848" y="56941"/>
            <a:ext cx="3988389" cy="3988389"/>
          </a:xfrm>
          <a:prstGeom prst="rect">
            <a:avLst/>
          </a:prstGeom>
        </p:spPr>
      </p:pic>
      <p:pic>
        <p:nvPicPr>
          <p:cNvPr id="66" name="Picture 65" descr="Logo, qr code&#10;&#10;Description automatically generated">
            <a:extLst>
              <a:ext uri="{FF2B5EF4-FFF2-40B4-BE49-F238E27FC236}">
                <a16:creationId xmlns:a16="http://schemas.microsoft.com/office/drawing/2014/main" id="{9F9ACC7B-1240-FCC2-3558-30331E0F0771}"/>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4816" t="4387" r="4435" b="5136"/>
          <a:stretch/>
        </p:blipFill>
        <p:spPr>
          <a:xfrm>
            <a:off x="148284" y="177478"/>
            <a:ext cx="3654425" cy="3705825"/>
          </a:xfrm>
          <a:prstGeom prst="rect">
            <a:avLst/>
          </a:prstGeom>
          <a:ln w="76200">
            <a:solidFill>
              <a:schemeClr val="tx1"/>
            </a:solidFill>
          </a:ln>
        </p:spPr>
      </p:pic>
    </p:spTree>
    <p:extLst>
      <p:ext uri="{BB962C8B-B14F-4D97-AF65-F5344CB8AC3E}">
        <p14:creationId xmlns:p14="http://schemas.microsoft.com/office/powerpoint/2010/main" val="3200339080"/>
      </p:ext>
    </p:extLst>
  </p:cSld>
  <p:clrMap bg1="lt1" tx1="dk1" bg2="lt2" tx2="dk2" accent1="accent1" accent2="accent2" accent3="accent3" accent4="accent4" accent5="accent5" accent6="accent6" hlink="hlink" folHlink="folHlink"/>
  <p:sldLayoutIdLst>
    <p:sldLayoutId id="2147483692" r:id="rId1"/>
    <p:sldLayoutId id="214748369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descr="A graph with a line going up&#10;&#10;AI-generated content may be incorrect.">
            <a:extLst>
              <a:ext uri="{FF2B5EF4-FFF2-40B4-BE49-F238E27FC236}">
                <a16:creationId xmlns:a16="http://schemas.microsoft.com/office/drawing/2014/main" id="{EF80EAF4-3014-50B7-D024-7F8A52E3A6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74524" y="12282822"/>
            <a:ext cx="11061660" cy="7764181"/>
          </a:xfrm>
          <a:prstGeom prst="rect">
            <a:avLst/>
          </a:prstGeom>
        </p:spPr>
      </p:pic>
      <p:sp>
        <p:nvSpPr>
          <p:cNvPr id="2" name="TextBox 1">
            <a:extLst>
              <a:ext uri="{FF2B5EF4-FFF2-40B4-BE49-F238E27FC236}">
                <a16:creationId xmlns:a16="http://schemas.microsoft.com/office/drawing/2014/main" id="{41190D4E-9B07-844E-A5C2-923563DAA024}"/>
              </a:ext>
            </a:extLst>
          </p:cNvPr>
          <p:cNvSpPr txBox="1"/>
          <p:nvPr/>
        </p:nvSpPr>
        <p:spPr>
          <a:xfrm>
            <a:off x="5537202" y="1828801"/>
            <a:ext cx="184731" cy="1209242"/>
          </a:xfrm>
          <a:prstGeom prst="rect">
            <a:avLst/>
          </a:prstGeom>
          <a:noFill/>
        </p:spPr>
        <p:txBody>
          <a:bodyPr wrap="none" rtlCol="0">
            <a:spAutoFit/>
          </a:bodyPr>
          <a:lstStyle/>
          <a:p>
            <a:endParaRPr lang="en-US" sz="7258" dirty="0"/>
          </a:p>
        </p:txBody>
      </p:sp>
      <p:sp>
        <p:nvSpPr>
          <p:cNvPr id="3" name="Rectangle 2">
            <a:extLst>
              <a:ext uri="{FF2B5EF4-FFF2-40B4-BE49-F238E27FC236}">
                <a16:creationId xmlns:a16="http://schemas.microsoft.com/office/drawing/2014/main" id="{DE952EEC-5641-BE46-AF88-C3D9BD12503B}"/>
              </a:ext>
            </a:extLst>
          </p:cNvPr>
          <p:cNvSpPr/>
          <p:nvPr/>
        </p:nvSpPr>
        <p:spPr>
          <a:xfrm>
            <a:off x="11078678" y="2734407"/>
            <a:ext cx="20513843" cy="830997"/>
          </a:xfrm>
          <a:prstGeom prst="rect">
            <a:avLst/>
          </a:prstGeom>
        </p:spPr>
        <p:txBody>
          <a:bodyPr wrap="square">
            <a:spAutoFit/>
          </a:bodyPr>
          <a:lstStyle/>
          <a:p>
            <a:pPr algn="ctr"/>
            <a:r>
              <a:rPr lang="en-US" sz="4800" b="1" i="1" dirty="0">
                <a:latin typeface="Arial Narrow" panose="020B0604020202020204" pitchFamily="34" charset="0"/>
                <a:cs typeface="Arial Narrow" panose="020B0604020202020204" pitchFamily="34" charset="0"/>
              </a:rPr>
              <a:t>Zach Goldstein, </a:t>
            </a:r>
            <a:r>
              <a:rPr lang="en-US" sz="4800" b="0" i="1" dirty="0">
                <a:latin typeface="Arial Narrow" panose="020B0604020202020204" pitchFamily="34" charset="0"/>
                <a:cs typeface="Arial Narrow" panose="020B0604020202020204" pitchFamily="34" charset="0"/>
              </a:rPr>
              <a:t>Dr. Ann Hess, Dr. Rachel Hector</a:t>
            </a:r>
          </a:p>
        </p:txBody>
      </p:sp>
      <p:sp>
        <p:nvSpPr>
          <p:cNvPr id="4" name="TextBox 3">
            <a:extLst>
              <a:ext uri="{FF2B5EF4-FFF2-40B4-BE49-F238E27FC236}">
                <a16:creationId xmlns:a16="http://schemas.microsoft.com/office/drawing/2014/main" id="{0E33F807-8B91-E442-AFCB-44D64C4F6260}"/>
              </a:ext>
            </a:extLst>
          </p:cNvPr>
          <p:cNvSpPr txBox="1"/>
          <p:nvPr/>
        </p:nvSpPr>
        <p:spPr>
          <a:xfrm>
            <a:off x="391883" y="399175"/>
            <a:ext cx="43891198" cy="1631216"/>
          </a:xfrm>
          <a:prstGeom prst="rect">
            <a:avLst/>
          </a:prstGeom>
          <a:noFill/>
        </p:spPr>
        <p:txBody>
          <a:bodyPr wrap="square" rtlCol="0">
            <a:spAutoFit/>
          </a:bodyPr>
          <a:lstStyle/>
          <a:p>
            <a:pPr algn="ctr"/>
            <a:r>
              <a:rPr lang="en-US" sz="10000" b="1" i="0" dirty="0">
                <a:latin typeface="Arial Narrow" panose="020B0604020202020204" pitchFamily="34" charset="0"/>
                <a:cs typeface="Arial Narrow" panose="020B0604020202020204" pitchFamily="34" charset="0"/>
              </a:rPr>
              <a:t>A Statistical Analysis of Equine Corneal Anesthesia</a:t>
            </a:r>
          </a:p>
        </p:txBody>
      </p:sp>
      <p:sp>
        <p:nvSpPr>
          <p:cNvPr id="5" name="TextBox 4">
            <a:extLst>
              <a:ext uri="{FF2B5EF4-FFF2-40B4-BE49-F238E27FC236}">
                <a16:creationId xmlns:a16="http://schemas.microsoft.com/office/drawing/2014/main" id="{E5213B36-F942-9143-BC08-45BCCC463C66}"/>
              </a:ext>
            </a:extLst>
          </p:cNvPr>
          <p:cNvSpPr txBox="1"/>
          <p:nvPr/>
        </p:nvSpPr>
        <p:spPr>
          <a:xfrm>
            <a:off x="91440" y="6189042"/>
            <a:ext cx="14369143" cy="1200329"/>
          </a:xfrm>
          <a:prstGeom prst="rect">
            <a:avLst/>
          </a:prstGeom>
          <a:noFill/>
        </p:spPr>
        <p:txBody>
          <a:bodyPr wrap="square" rtlCol="0">
            <a:spAutoFit/>
          </a:bodyPr>
          <a:lstStyle/>
          <a:p>
            <a:pPr algn="ctr"/>
            <a:r>
              <a:rPr lang="en-US" sz="7200" b="1" i="0" dirty="0">
                <a:solidFill>
                  <a:srgbClr val="004C24"/>
                </a:solidFill>
                <a:latin typeface="Arial Narrow" panose="020B0604020202020204" pitchFamily="34" charset="0"/>
                <a:cs typeface="Arial Narrow" panose="020B0604020202020204" pitchFamily="34" charset="0"/>
              </a:rPr>
              <a:t>Background and Significance </a:t>
            </a:r>
          </a:p>
        </p:txBody>
      </p:sp>
      <p:sp>
        <p:nvSpPr>
          <p:cNvPr id="6" name="TextBox 5">
            <a:extLst>
              <a:ext uri="{FF2B5EF4-FFF2-40B4-BE49-F238E27FC236}">
                <a16:creationId xmlns:a16="http://schemas.microsoft.com/office/drawing/2014/main" id="{D035B9AA-70A8-0641-B3E0-8B2E6451C99C}"/>
              </a:ext>
            </a:extLst>
          </p:cNvPr>
          <p:cNvSpPr txBox="1"/>
          <p:nvPr/>
        </p:nvSpPr>
        <p:spPr>
          <a:xfrm>
            <a:off x="-39196" y="23850705"/>
            <a:ext cx="14369143" cy="1200329"/>
          </a:xfrm>
          <a:prstGeom prst="rect">
            <a:avLst/>
          </a:prstGeom>
          <a:noFill/>
        </p:spPr>
        <p:txBody>
          <a:bodyPr wrap="square" rtlCol="0">
            <a:spAutoFit/>
          </a:bodyPr>
          <a:lstStyle/>
          <a:p>
            <a:pPr algn="ctr"/>
            <a:r>
              <a:rPr lang="en-US" sz="7200" b="1" i="0" dirty="0">
                <a:solidFill>
                  <a:srgbClr val="004C24"/>
                </a:solidFill>
                <a:latin typeface="Arial Narrow" panose="020B0604020202020204" pitchFamily="34" charset="0"/>
                <a:cs typeface="Arial Narrow" panose="020B0604020202020204" pitchFamily="34" charset="0"/>
              </a:rPr>
              <a:t>Methods/Techniques/Experiments</a:t>
            </a:r>
          </a:p>
        </p:txBody>
      </p:sp>
      <p:sp>
        <p:nvSpPr>
          <p:cNvPr id="7" name="TextBox 6">
            <a:extLst>
              <a:ext uri="{FF2B5EF4-FFF2-40B4-BE49-F238E27FC236}">
                <a16:creationId xmlns:a16="http://schemas.microsoft.com/office/drawing/2014/main" id="{C6DEA806-2E77-F442-9A78-83AC28E720D7}"/>
              </a:ext>
            </a:extLst>
          </p:cNvPr>
          <p:cNvSpPr txBox="1"/>
          <p:nvPr/>
        </p:nvSpPr>
        <p:spPr>
          <a:xfrm>
            <a:off x="14591208" y="6189042"/>
            <a:ext cx="14369143" cy="1200329"/>
          </a:xfrm>
          <a:prstGeom prst="rect">
            <a:avLst/>
          </a:prstGeom>
          <a:noFill/>
        </p:spPr>
        <p:txBody>
          <a:bodyPr wrap="square" rtlCol="0">
            <a:spAutoFit/>
          </a:bodyPr>
          <a:lstStyle/>
          <a:p>
            <a:pPr algn="ctr"/>
            <a:r>
              <a:rPr lang="en-US" sz="7200" b="1" i="0" dirty="0">
                <a:solidFill>
                  <a:srgbClr val="004C24"/>
                </a:solidFill>
                <a:latin typeface="Arial Narrow" panose="020B0604020202020204" pitchFamily="34" charset="0"/>
                <a:cs typeface="Arial Narrow" panose="020B0604020202020204" pitchFamily="34" charset="0"/>
              </a:rPr>
              <a:t>Main Findings</a:t>
            </a:r>
          </a:p>
        </p:txBody>
      </p:sp>
      <p:sp>
        <p:nvSpPr>
          <p:cNvPr id="8" name="TextBox 7">
            <a:extLst>
              <a:ext uri="{FF2B5EF4-FFF2-40B4-BE49-F238E27FC236}">
                <a16:creationId xmlns:a16="http://schemas.microsoft.com/office/drawing/2014/main" id="{02B2A99E-6454-374C-B4CE-BCCECC17452E}"/>
              </a:ext>
            </a:extLst>
          </p:cNvPr>
          <p:cNvSpPr txBox="1"/>
          <p:nvPr/>
        </p:nvSpPr>
        <p:spPr>
          <a:xfrm>
            <a:off x="29352240" y="6189042"/>
            <a:ext cx="14369143" cy="1200329"/>
          </a:xfrm>
          <a:prstGeom prst="rect">
            <a:avLst/>
          </a:prstGeom>
          <a:noFill/>
        </p:spPr>
        <p:txBody>
          <a:bodyPr wrap="square" rtlCol="0">
            <a:spAutoFit/>
          </a:bodyPr>
          <a:lstStyle/>
          <a:p>
            <a:pPr algn="ctr"/>
            <a:r>
              <a:rPr lang="en-US" sz="7200" b="1" i="0" dirty="0">
                <a:solidFill>
                  <a:srgbClr val="004C24"/>
                </a:solidFill>
                <a:latin typeface="Arial Narrow" panose="020B0604020202020204" pitchFamily="34" charset="0"/>
                <a:cs typeface="Arial Narrow" panose="020B0604020202020204" pitchFamily="34" charset="0"/>
              </a:rPr>
              <a:t>Results and Conclusions</a:t>
            </a:r>
          </a:p>
        </p:txBody>
      </p:sp>
      <p:sp>
        <p:nvSpPr>
          <p:cNvPr id="10" name="TextBox 9">
            <a:extLst>
              <a:ext uri="{FF2B5EF4-FFF2-40B4-BE49-F238E27FC236}">
                <a16:creationId xmlns:a16="http://schemas.microsoft.com/office/drawing/2014/main" id="{ADD4335E-B41E-0540-B13E-273E62535AAC}"/>
              </a:ext>
            </a:extLst>
          </p:cNvPr>
          <p:cNvSpPr txBox="1"/>
          <p:nvPr/>
        </p:nvSpPr>
        <p:spPr>
          <a:xfrm>
            <a:off x="29345935" y="27977496"/>
            <a:ext cx="14369143" cy="1200329"/>
          </a:xfrm>
          <a:prstGeom prst="rect">
            <a:avLst/>
          </a:prstGeom>
          <a:noFill/>
        </p:spPr>
        <p:txBody>
          <a:bodyPr wrap="square" rtlCol="0">
            <a:spAutoFit/>
          </a:bodyPr>
          <a:lstStyle/>
          <a:p>
            <a:pPr algn="ctr"/>
            <a:r>
              <a:rPr lang="en-US" sz="7200" b="1" i="0" dirty="0">
                <a:solidFill>
                  <a:srgbClr val="004C24"/>
                </a:solidFill>
                <a:latin typeface="Arial Narrow" panose="020B0604020202020204" pitchFamily="34" charset="0"/>
                <a:cs typeface="Arial Narrow" panose="020B0604020202020204" pitchFamily="34" charset="0"/>
              </a:rPr>
              <a:t>Acknowledgements</a:t>
            </a:r>
          </a:p>
        </p:txBody>
      </p:sp>
      <p:sp>
        <p:nvSpPr>
          <p:cNvPr id="11" name="TextBox 10">
            <a:extLst>
              <a:ext uri="{FF2B5EF4-FFF2-40B4-BE49-F238E27FC236}">
                <a16:creationId xmlns:a16="http://schemas.microsoft.com/office/drawing/2014/main" id="{90922665-BE86-C64B-A7E0-0F6728C90E00}"/>
              </a:ext>
            </a:extLst>
          </p:cNvPr>
          <p:cNvSpPr txBox="1"/>
          <p:nvPr/>
        </p:nvSpPr>
        <p:spPr>
          <a:xfrm>
            <a:off x="515976" y="7604274"/>
            <a:ext cx="13585375" cy="7201972"/>
          </a:xfrm>
          <a:prstGeom prst="rect">
            <a:avLst/>
          </a:prstGeom>
          <a:noFill/>
        </p:spPr>
        <p:txBody>
          <a:bodyPr wrap="square" rtlCol="0">
            <a:spAutoFit/>
          </a:bodyPr>
          <a:lstStyle/>
          <a:p>
            <a:pPr algn="just"/>
            <a:r>
              <a:rPr lang="en-US" sz="4200" b="0" i="0" dirty="0">
                <a:latin typeface="Arial Narrow" panose="020B0604020202020204" pitchFamily="34" charset="0"/>
                <a:cs typeface="Arial Narrow" panose="020B0604020202020204" pitchFamily="34" charset="0"/>
              </a:rPr>
              <a:t>Standing corneal surgery lets veterinarians avoid the ~1% mortality risk that horses face during recovery from full general anesthesia. Success hinges on a long-lasting, painless nerve block. </a:t>
            </a:r>
            <a:r>
              <a:rPr lang="en-US" sz="4200" dirty="0">
                <a:latin typeface="Arial Narrow" panose="020B0604020202020204" pitchFamily="34" charset="0"/>
                <a:cs typeface="Arial Narrow" panose="020B0604020202020204" pitchFamily="34" charset="0"/>
              </a:rPr>
              <a:t>Three subconjunctival protocols were compared in healthy horses:</a:t>
            </a:r>
          </a:p>
          <a:p>
            <a:pPr marL="685800" indent="-685800" algn="just">
              <a:buFont typeface="Arial" panose="020B0604020202020204" pitchFamily="34" charset="0"/>
              <a:buChar char="•"/>
            </a:pPr>
            <a:r>
              <a:rPr lang="en-US" sz="4200" dirty="0">
                <a:latin typeface="Arial Narrow" panose="020B0604020202020204" pitchFamily="34" charset="0"/>
                <a:cs typeface="Arial Narrow" panose="020B0604020202020204" pitchFamily="34" charset="0"/>
              </a:rPr>
              <a:t>DR – Ropivacaine + Dexmedetomidine (sedative adjuvant)</a:t>
            </a:r>
          </a:p>
          <a:p>
            <a:pPr marL="685800" indent="-685800" algn="just">
              <a:buFont typeface="Arial" panose="020B0604020202020204" pitchFamily="34" charset="0"/>
              <a:buChar char="•"/>
            </a:pPr>
            <a:r>
              <a:rPr lang="en-US" sz="4200" dirty="0">
                <a:latin typeface="Arial Narrow" panose="020B0604020202020204" pitchFamily="34" charset="0"/>
                <a:cs typeface="Arial Narrow" panose="020B0604020202020204" pitchFamily="34" charset="0"/>
              </a:rPr>
              <a:t>Ropivacaine alone (current standard)</a:t>
            </a:r>
          </a:p>
          <a:p>
            <a:pPr marL="685800" indent="-685800" algn="just">
              <a:buFont typeface="Arial" panose="020B0604020202020204" pitchFamily="34" charset="0"/>
              <a:buChar char="•"/>
            </a:pPr>
            <a:r>
              <a:rPr lang="en-US" sz="4200" dirty="0">
                <a:latin typeface="Arial Narrow" panose="020B0604020202020204" pitchFamily="34" charset="0"/>
                <a:cs typeface="Arial Narrow" panose="020B0604020202020204" pitchFamily="34" charset="0"/>
              </a:rPr>
              <a:t>Saline placebo</a:t>
            </a:r>
          </a:p>
          <a:p>
            <a:pPr algn="just"/>
            <a:r>
              <a:rPr lang="en-US" sz="4200" b="1" dirty="0">
                <a:latin typeface="Arial Narrow" panose="020B0604020202020204" pitchFamily="34" charset="0"/>
                <a:cs typeface="Arial Narrow" panose="020B0604020202020204" pitchFamily="34" charset="0"/>
              </a:rPr>
              <a:t>Goal:</a:t>
            </a:r>
            <a:r>
              <a:rPr lang="en-US" sz="4200" dirty="0">
                <a:latin typeface="Arial Narrow" panose="020B0604020202020204" pitchFamily="34" charset="0"/>
                <a:cs typeface="Arial Narrow" panose="020B0604020202020204" pitchFamily="34" charset="0"/>
              </a:rPr>
              <a:t> Determine whether adding a sedative meaningfully extends corneal numbness (Total Anesthesia Time, TAT) while tracking safety via hemorrhage scores.</a:t>
            </a:r>
          </a:p>
          <a:p>
            <a:pPr algn="just"/>
            <a:endParaRPr lang="en-US" sz="4200" b="0" i="0" dirty="0">
              <a:latin typeface="Arial Narrow" panose="020B0604020202020204" pitchFamily="34" charset="0"/>
              <a:cs typeface="Arial Narrow" panose="020B0604020202020204" pitchFamily="34" charset="0"/>
            </a:endParaRPr>
          </a:p>
        </p:txBody>
      </p:sp>
      <p:sp>
        <p:nvSpPr>
          <p:cNvPr id="12" name="TextBox 11">
            <a:extLst>
              <a:ext uri="{FF2B5EF4-FFF2-40B4-BE49-F238E27FC236}">
                <a16:creationId xmlns:a16="http://schemas.microsoft.com/office/drawing/2014/main" id="{2C12478C-D961-3A4C-9BAE-2875E2658E6E}"/>
              </a:ext>
            </a:extLst>
          </p:cNvPr>
          <p:cNvSpPr txBox="1"/>
          <p:nvPr/>
        </p:nvSpPr>
        <p:spPr>
          <a:xfrm>
            <a:off x="483322" y="25314126"/>
            <a:ext cx="13585375" cy="7201972"/>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200" b="1" i="1" dirty="0">
                <a:latin typeface="Arial Narrow" panose="020B0604020202020204" pitchFamily="34" charset="0"/>
                <a:cs typeface="Arial Narrow" panose="020B0604020202020204" pitchFamily="34" charset="0"/>
              </a:rPr>
              <a:t>Design:</a:t>
            </a:r>
            <a:r>
              <a:rPr lang="en-US" sz="4200" b="1" i="0" dirty="0">
                <a:latin typeface="Arial Narrow" panose="020B0604020202020204" pitchFamily="34" charset="0"/>
                <a:cs typeface="Arial Narrow" panose="020B0604020202020204" pitchFamily="34" charset="0"/>
              </a:rPr>
              <a:t> </a:t>
            </a:r>
            <a:r>
              <a:rPr lang="en-US" sz="4200" b="0" i="0" dirty="0">
                <a:latin typeface="Arial Narrow" panose="020B0604020202020204" pitchFamily="34" charset="0"/>
                <a:cs typeface="Arial Narrow" panose="020B0604020202020204" pitchFamily="34" charset="0"/>
              </a:rPr>
              <a:t>Two-period crossover, 10 horses, each eye tested twice (20 eye-sessions, opposite eye saline placebo). One week wash-out between sessions.</a:t>
            </a:r>
          </a:p>
          <a:p>
            <a:pPr marL="0" marR="0" lvl="0" indent="0" algn="just" defTabSz="3686861" rtl="0" eaLnBrk="1" fontAlgn="auto" latinLnBrk="0" hangingPunct="1">
              <a:lnSpc>
                <a:spcPct val="100000"/>
              </a:lnSpc>
              <a:spcBef>
                <a:spcPts val="0"/>
              </a:spcBef>
              <a:spcAft>
                <a:spcPts val="0"/>
              </a:spcAft>
              <a:buClrTx/>
              <a:buSzTx/>
              <a:buFontTx/>
              <a:buNone/>
              <a:tabLst/>
              <a:defRPr/>
            </a:pPr>
            <a:r>
              <a:rPr lang="en-US" sz="4200" b="1" i="1" dirty="0">
                <a:latin typeface="Arial Narrow" panose="020B0604020202020204" pitchFamily="34" charset="0"/>
                <a:cs typeface="Arial Narrow" panose="020B0604020202020204" pitchFamily="34" charset="0"/>
              </a:rPr>
              <a:t>Measurements:</a:t>
            </a:r>
            <a:r>
              <a:rPr lang="en-US" sz="4200" b="1" dirty="0">
                <a:latin typeface="Arial Narrow" panose="020B0604020202020204" pitchFamily="34" charset="0"/>
                <a:cs typeface="Arial Narrow" panose="020B0604020202020204" pitchFamily="34" charset="0"/>
              </a:rPr>
              <a:t> </a:t>
            </a:r>
            <a:r>
              <a:rPr lang="en-US" sz="4200" dirty="0">
                <a:latin typeface="Arial Narrow" panose="020B0604020202020204" pitchFamily="34" charset="0"/>
                <a:cs typeface="Arial Narrow" panose="020B0604020202020204" pitchFamily="34" charset="0"/>
              </a:rPr>
              <a:t>Every 10 minutes until corneal-touch threshold (CTT) returned to baseline measurement twice consecutively; corneal pressure and hemorrhage grade recorded concurrently.</a:t>
            </a:r>
          </a:p>
          <a:p>
            <a:pPr marL="0" marR="0" lvl="0" indent="0" algn="just" defTabSz="3686861" rtl="0" eaLnBrk="1" fontAlgn="auto" latinLnBrk="0" hangingPunct="1">
              <a:lnSpc>
                <a:spcPct val="100000"/>
              </a:lnSpc>
              <a:spcBef>
                <a:spcPts val="0"/>
              </a:spcBef>
              <a:spcAft>
                <a:spcPts val="0"/>
              </a:spcAft>
              <a:buClrTx/>
              <a:buSzTx/>
              <a:buFontTx/>
              <a:buNone/>
              <a:tabLst/>
              <a:defRPr/>
            </a:pPr>
            <a:r>
              <a:rPr lang="en-US" sz="4200" b="0" i="1" dirty="0">
                <a:latin typeface="Arial Narrow" panose="020B0604020202020204" pitchFamily="34" charset="0"/>
                <a:cs typeface="Arial Narrow" panose="020B0604020202020204" pitchFamily="34" charset="0"/>
              </a:rPr>
              <a:t>Primary outcome: </a:t>
            </a:r>
            <a:r>
              <a:rPr lang="en-US" sz="4200" dirty="0">
                <a:latin typeface="Arial Narrow" panose="020B0604020202020204" pitchFamily="34" charset="0"/>
                <a:cs typeface="Arial Narrow" panose="020B0604020202020204" pitchFamily="34" charset="0"/>
              </a:rPr>
              <a:t>TAT (minutes).</a:t>
            </a:r>
          </a:p>
          <a:p>
            <a:pPr marL="0" marR="0" lvl="0" indent="0" algn="just" defTabSz="3686861" rtl="0" eaLnBrk="1" fontAlgn="auto" latinLnBrk="0" hangingPunct="1">
              <a:lnSpc>
                <a:spcPct val="100000"/>
              </a:lnSpc>
              <a:spcBef>
                <a:spcPts val="0"/>
              </a:spcBef>
              <a:spcAft>
                <a:spcPts val="0"/>
              </a:spcAft>
              <a:buClrTx/>
              <a:buSzTx/>
              <a:buFontTx/>
              <a:buNone/>
              <a:tabLst/>
              <a:defRPr/>
            </a:pPr>
            <a:r>
              <a:rPr lang="en-US" sz="4200" b="1" i="1" dirty="0">
                <a:latin typeface="Arial Narrow" panose="020B0604020202020204" pitchFamily="34" charset="0"/>
                <a:cs typeface="Arial Narrow" panose="020B0604020202020204" pitchFamily="34" charset="0"/>
              </a:rPr>
              <a:t>Statistics:</a:t>
            </a:r>
            <a:r>
              <a:rPr lang="en-US" sz="4200" b="1" i="0" dirty="0">
                <a:latin typeface="Arial Narrow" panose="020B0604020202020204" pitchFamily="34" charset="0"/>
                <a:cs typeface="Arial Narrow" panose="020B0604020202020204" pitchFamily="34" charset="0"/>
              </a:rPr>
              <a:t> </a:t>
            </a:r>
            <a:r>
              <a:rPr lang="en-US" sz="4200" b="0" i="0" dirty="0">
                <a:latin typeface="Arial Narrow" panose="020B0604020202020204" pitchFamily="34" charset="0"/>
                <a:cs typeface="Arial Narrow" panose="020B0604020202020204" pitchFamily="34" charset="0"/>
              </a:rPr>
              <a:t>Mix</a:t>
            </a:r>
            <a:r>
              <a:rPr lang="en-US" sz="4200" dirty="0">
                <a:latin typeface="Arial Narrow" panose="020B0604020202020204" pitchFamily="34" charset="0"/>
                <a:cs typeface="Arial Narrow" panose="020B0604020202020204" pitchFamily="34" charset="0"/>
              </a:rPr>
              <a:t>ed-effects model with treatment as fixed effect, horse as random intercept; square-root transform for TAT. Tukey-adjusted estimated marginal means (</a:t>
            </a:r>
            <a:r>
              <a:rPr lang="en-US" sz="4200" dirty="0" err="1">
                <a:latin typeface="Arial Narrow" panose="020B0604020202020204" pitchFamily="34" charset="0"/>
                <a:cs typeface="Arial Narrow" panose="020B0604020202020204" pitchFamily="34" charset="0"/>
              </a:rPr>
              <a:t>EMMeans</a:t>
            </a:r>
            <a:r>
              <a:rPr lang="en-US" sz="4200" dirty="0">
                <a:latin typeface="Arial Narrow" panose="020B0604020202020204" pitchFamily="34" charset="0"/>
                <a:cs typeface="Arial Narrow" panose="020B0604020202020204" pitchFamily="34" charset="0"/>
              </a:rPr>
              <a:t>) for pairwise contrasts, plus paired Wilcoxon signed-rank test as a distribution-free check.</a:t>
            </a:r>
            <a:endParaRPr lang="en-US" sz="4200" b="0" i="0" dirty="0">
              <a:latin typeface="Arial Narrow" panose="020B0604020202020204" pitchFamily="34" charset="0"/>
              <a:cs typeface="Arial Narrow" panose="020B0604020202020204" pitchFamily="34" charset="0"/>
            </a:endParaRPr>
          </a:p>
        </p:txBody>
      </p:sp>
      <p:sp>
        <p:nvSpPr>
          <p:cNvPr id="13" name="TextBox 12">
            <a:extLst>
              <a:ext uri="{FF2B5EF4-FFF2-40B4-BE49-F238E27FC236}">
                <a16:creationId xmlns:a16="http://schemas.microsoft.com/office/drawing/2014/main" id="{682D6EE6-F33F-9F42-BF75-C4681623D46E}"/>
              </a:ext>
            </a:extLst>
          </p:cNvPr>
          <p:cNvSpPr txBox="1"/>
          <p:nvPr/>
        </p:nvSpPr>
        <p:spPr>
          <a:xfrm>
            <a:off x="14983091" y="7604274"/>
            <a:ext cx="13585375" cy="4616648"/>
          </a:xfrm>
          <a:prstGeom prst="rect">
            <a:avLst/>
          </a:prstGeom>
          <a:noFill/>
        </p:spPr>
        <p:txBody>
          <a:bodyPr wrap="square" rtlCol="0">
            <a:spAutoFit/>
          </a:bodyPr>
          <a:lstStyle/>
          <a:p>
            <a:pPr marL="0" marR="0" lvl="0" indent="0" algn="just" defTabSz="3686861" rtl="0" eaLnBrk="1" fontAlgn="auto" latinLnBrk="0" hangingPunct="1">
              <a:lnSpc>
                <a:spcPct val="100000"/>
              </a:lnSpc>
              <a:spcBef>
                <a:spcPts val="0"/>
              </a:spcBef>
              <a:spcAft>
                <a:spcPts val="0"/>
              </a:spcAft>
              <a:buClrTx/>
              <a:buSzTx/>
              <a:buFontTx/>
              <a:buNone/>
              <a:tabLst/>
              <a:defRPr/>
            </a:pPr>
            <a:r>
              <a:rPr lang="en-US" sz="4200" b="0" i="0" dirty="0">
                <a:latin typeface="Arial Narrow" panose="020B0604020202020204" pitchFamily="34" charset="0"/>
                <a:cs typeface="Arial Narrow" panose="020B0604020202020204" pitchFamily="34" charset="0"/>
              </a:rPr>
              <a:t>Adding dexmedetomidine extended median TAT from ~100 minutes (R) to ~150 minutes (DR) (F = 31.1, p &lt; 1e-6). Minimum CTT duration and peak corneal pressure also favored DR (all p &gt; 0.05). The paired Wilcoxon test for DR vs R, however, didn’t favor this (p ≅ 0.076), due to it ignoring between-horse variability. Hemorrhage scores were slightly higher under DR but remained clinically acceptable.</a:t>
            </a:r>
            <a:endParaRPr lang="en-US" sz="4200" b="1" i="0" dirty="0">
              <a:latin typeface="Arial Narrow" panose="020B0604020202020204" pitchFamily="34" charset="0"/>
              <a:cs typeface="Arial Narrow" panose="020B0604020202020204" pitchFamily="34" charset="0"/>
            </a:endParaRPr>
          </a:p>
        </p:txBody>
      </p:sp>
      <p:sp>
        <p:nvSpPr>
          <p:cNvPr id="15" name="TextBox 14">
            <a:extLst>
              <a:ext uri="{FF2B5EF4-FFF2-40B4-BE49-F238E27FC236}">
                <a16:creationId xmlns:a16="http://schemas.microsoft.com/office/drawing/2014/main" id="{0706E7E8-3B89-A243-8ADC-A92B1275943F}"/>
              </a:ext>
            </a:extLst>
          </p:cNvPr>
          <p:cNvSpPr txBox="1"/>
          <p:nvPr/>
        </p:nvSpPr>
        <p:spPr>
          <a:xfrm>
            <a:off x="483322" y="22374916"/>
            <a:ext cx="13585375" cy="1200329"/>
          </a:xfrm>
          <a:prstGeom prst="rect">
            <a:avLst/>
          </a:prstGeom>
          <a:noFill/>
        </p:spPr>
        <p:txBody>
          <a:bodyPr wrap="square" rtlCol="0">
            <a:spAutoFit/>
          </a:bodyPr>
          <a:lstStyle/>
          <a:p>
            <a:pPr algn="just"/>
            <a:r>
              <a:rPr lang="en-US" sz="2400" b="0" i="0" dirty="0">
                <a:latin typeface="Arial Narrow" panose="020B0604020202020204" pitchFamily="34" charset="0"/>
                <a:cs typeface="Arial Narrow" panose="020B0604020202020204" pitchFamily="34" charset="0"/>
              </a:rPr>
              <a:t>Figure 1. Total anesthesia time for each horse under all three treatments. Lines connect the same horse across protocols, illustrating both within-horse consistency and the overall advantage of the dexmedetomidine + ropivacaine (DR) regimen.</a:t>
            </a:r>
          </a:p>
        </p:txBody>
      </p:sp>
      <p:sp>
        <p:nvSpPr>
          <p:cNvPr id="17" name="TextBox 16">
            <a:extLst>
              <a:ext uri="{FF2B5EF4-FFF2-40B4-BE49-F238E27FC236}">
                <a16:creationId xmlns:a16="http://schemas.microsoft.com/office/drawing/2014/main" id="{3342A44B-E409-144B-AF16-AB26AA042CDC}"/>
              </a:ext>
            </a:extLst>
          </p:cNvPr>
          <p:cNvSpPr txBox="1"/>
          <p:nvPr/>
        </p:nvSpPr>
        <p:spPr>
          <a:xfrm>
            <a:off x="14847508" y="19683681"/>
            <a:ext cx="13585375" cy="830997"/>
          </a:xfrm>
          <a:prstGeom prst="rect">
            <a:avLst/>
          </a:prstGeom>
          <a:noFill/>
        </p:spPr>
        <p:txBody>
          <a:bodyPr wrap="square" rtlCol="0">
            <a:spAutoFit/>
          </a:bodyPr>
          <a:lstStyle/>
          <a:p>
            <a:pPr algn="just"/>
            <a:r>
              <a:rPr lang="en-US" sz="2400" b="0" i="0" dirty="0">
                <a:latin typeface="Arial Narrow" panose="020B0604020202020204" pitchFamily="34" charset="0"/>
                <a:cs typeface="Arial Narrow" panose="020B0604020202020204" pitchFamily="34" charset="0"/>
              </a:rPr>
              <a:t>Figure 2. Back-transformed estimated marginal means of total anesthesia time from the mixed-effects model (points) with 95% confidence intervals (bars). DR provides a markedly longer block than ropivacaine alone (R) or saline (S).</a:t>
            </a:r>
          </a:p>
        </p:txBody>
      </p:sp>
      <p:sp>
        <p:nvSpPr>
          <p:cNvPr id="18" name="TextBox 17">
            <a:extLst>
              <a:ext uri="{FF2B5EF4-FFF2-40B4-BE49-F238E27FC236}">
                <a16:creationId xmlns:a16="http://schemas.microsoft.com/office/drawing/2014/main" id="{20AC4D14-B9EB-4644-BE2D-44A0252317F0}"/>
              </a:ext>
            </a:extLst>
          </p:cNvPr>
          <p:cNvSpPr txBox="1"/>
          <p:nvPr/>
        </p:nvSpPr>
        <p:spPr>
          <a:xfrm>
            <a:off x="29444012" y="7604274"/>
            <a:ext cx="14179734" cy="12372618"/>
          </a:xfrm>
          <a:prstGeom prst="rect">
            <a:avLst/>
          </a:prstGeom>
          <a:noFill/>
        </p:spPr>
        <p:txBody>
          <a:bodyPr wrap="square" rtlCol="0">
            <a:spAutoFit/>
          </a:bodyPr>
          <a:lstStyle/>
          <a:p>
            <a:pPr marL="571500" marR="0" lvl="0" indent="-571500" algn="just" defTabSz="3686861"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4200" b="1" i="0" dirty="0">
                <a:latin typeface="Arial Narrow" panose="020B0604020202020204" pitchFamily="34" charset="0"/>
                <a:cs typeface="Arial Narrow" panose="020B0604020202020204" pitchFamily="34" charset="0"/>
              </a:rPr>
              <a:t>Adding the sedative (DR) extends the surgical window.</a:t>
            </a:r>
          </a:p>
          <a:p>
            <a:pPr marL="2414930" lvl="1" indent="-571500" algn="just">
              <a:buFont typeface="Arial" panose="020B0604020202020204" pitchFamily="34" charset="0"/>
              <a:buChar char="•"/>
              <a:defRPr/>
            </a:pPr>
            <a:r>
              <a:rPr lang="en-US" sz="4200" dirty="0">
                <a:latin typeface="Arial Narrow" panose="020B0604020202020204" pitchFamily="34" charset="0"/>
                <a:cs typeface="Arial Narrow" panose="020B0604020202020204" pitchFamily="34" charset="0"/>
              </a:rPr>
              <a:t>Mixed-effects model on √TTA → F(2, 29) = 31.1, p &lt; 1e-6</a:t>
            </a:r>
          </a:p>
          <a:p>
            <a:pPr marL="2414930" lvl="1" indent="-571500" algn="just">
              <a:buFont typeface="Arial" panose="020B0604020202020204" pitchFamily="34" charset="0"/>
              <a:buChar char="•"/>
              <a:defRPr/>
            </a:pPr>
            <a:r>
              <a:rPr lang="en-US" sz="4200" b="0" i="0" dirty="0">
                <a:latin typeface="Arial Narrow" panose="020B0604020202020204" pitchFamily="34" charset="0"/>
                <a:cs typeface="Arial Narrow" panose="020B0604020202020204" pitchFamily="34" charset="0"/>
              </a:rPr>
              <a:t>Back</a:t>
            </a:r>
            <a:r>
              <a:rPr lang="en-US" sz="4200" dirty="0">
                <a:latin typeface="Arial Narrow" panose="020B0604020202020204" pitchFamily="34" charset="0"/>
                <a:cs typeface="Arial Narrow" panose="020B0604020202020204" pitchFamily="34" charset="0"/>
              </a:rPr>
              <a:t>-transformed means: DR ≅ 150 min, R ≅ 100 min, </a:t>
            </a:r>
          </a:p>
          <a:p>
            <a:pPr lvl="1" algn="just">
              <a:defRPr/>
            </a:pPr>
            <a:r>
              <a:rPr lang="en-US" sz="4200" dirty="0">
                <a:latin typeface="Arial Narrow" panose="020B0604020202020204" pitchFamily="34" charset="0"/>
                <a:cs typeface="Arial Narrow" panose="020B0604020202020204" pitchFamily="34" charset="0"/>
              </a:rPr>
              <a:t>     S ≅ 35 min.</a:t>
            </a:r>
          </a:p>
          <a:p>
            <a:pPr marL="571500" indent="-571500" algn="just">
              <a:buFont typeface="Arial" panose="020B0604020202020204" pitchFamily="34" charset="0"/>
              <a:buChar char="•"/>
              <a:defRPr/>
            </a:pPr>
            <a:r>
              <a:rPr lang="en-US" sz="4200" b="1" dirty="0">
                <a:latin typeface="Arial Narrow" panose="020B0604020202020204" pitchFamily="34" charset="0"/>
                <a:cs typeface="Arial Narrow" panose="020B0604020202020204" pitchFamily="34" charset="0"/>
              </a:rPr>
              <a:t>Non-parametric check shows otherwise.</a:t>
            </a:r>
          </a:p>
          <a:p>
            <a:pPr marL="2414930" lvl="1" indent="-571500" algn="just">
              <a:buFont typeface="Arial" panose="020B0604020202020204" pitchFamily="34" charset="0"/>
              <a:buChar char="•"/>
              <a:defRPr/>
            </a:pPr>
            <a:r>
              <a:rPr lang="en-US" sz="4200" dirty="0">
                <a:latin typeface="Arial Narrow" panose="020B0604020202020204" pitchFamily="34" charset="0"/>
                <a:cs typeface="Arial Narrow" panose="020B0604020202020204" pitchFamily="34" charset="0"/>
              </a:rPr>
              <a:t>Paired Wilcoxon signed-rank test (DR vs R) showed the same upward trend but did not reach 0.05 significance (p = 0.076); Hodges-Lehman median gained ≅ +38 min.</a:t>
            </a:r>
          </a:p>
          <a:p>
            <a:pPr marL="571500" indent="-571500" algn="just">
              <a:buFont typeface="Arial" panose="020B0604020202020204" pitchFamily="34" charset="0"/>
              <a:buChar char="•"/>
              <a:defRPr/>
            </a:pPr>
            <a:r>
              <a:rPr lang="en-US" sz="4200" b="1" dirty="0">
                <a:latin typeface="Arial Narrow" panose="020B0604020202020204" pitchFamily="34" charset="0"/>
                <a:cs typeface="Arial Narrow" panose="020B0604020202020204" pitchFamily="34" charset="0"/>
              </a:rPr>
              <a:t>Hemorrhaging remained similar between DR and R.</a:t>
            </a:r>
          </a:p>
          <a:p>
            <a:pPr marL="2414930" lvl="1" indent="-571500" algn="just">
              <a:buFont typeface="Arial" panose="020B0604020202020204" pitchFamily="34" charset="0"/>
              <a:buChar char="•"/>
              <a:defRPr/>
            </a:pPr>
            <a:r>
              <a:rPr lang="en-US" sz="4200" dirty="0">
                <a:latin typeface="Arial Narrow" panose="020B0604020202020204" pitchFamily="34" charset="0"/>
                <a:cs typeface="Arial Narrow" panose="020B0604020202020204" pitchFamily="34" charset="0"/>
              </a:rPr>
              <a:t>DR and R groups shared a comparable spread of hemorrhage scores 0-3, with the majority of eyes falling in the mild 1-2 range.</a:t>
            </a:r>
          </a:p>
          <a:p>
            <a:pPr marL="571500" indent="-571500" algn="just">
              <a:buFont typeface="Arial" panose="020B0604020202020204" pitchFamily="34" charset="0"/>
              <a:buChar char="•"/>
              <a:defRPr/>
            </a:pPr>
            <a:r>
              <a:rPr lang="en-US" sz="4200" b="1" dirty="0">
                <a:latin typeface="Arial Narrow" panose="020B0604020202020204" pitchFamily="34" charset="0"/>
                <a:cs typeface="Arial Narrow" panose="020B0604020202020204" pitchFamily="34" charset="0"/>
              </a:rPr>
              <a:t>Time-course plots illustrate the mechanism.</a:t>
            </a:r>
          </a:p>
          <a:p>
            <a:pPr marL="2414930" lvl="1" indent="-571500" algn="just">
              <a:buFont typeface="Arial" panose="020B0604020202020204" pitchFamily="34" charset="0"/>
              <a:buChar char="•"/>
              <a:defRPr/>
            </a:pPr>
            <a:r>
              <a:rPr lang="en-US" sz="4200" dirty="0">
                <a:latin typeface="Arial Narrow" panose="020B0604020202020204" pitchFamily="34" charset="0"/>
                <a:cs typeface="Arial Narrow" panose="020B0604020202020204" pitchFamily="34" charset="0"/>
              </a:rPr>
              <a:t>DR maintains lower CTT for longer, while corneal pressure returns rapidly for all groups (see Fig. 3).</a:t>
            </a:r>
          </a:p>
          <a:p>
            <a:pPr marL="2414930" lvl="1" indent="-571500" algn="just">
              <a:buFont typeface="Arial" panose="020B0604020202020204" pitchFamily="34" charset="0"/>
              <a:buChar char="•"/>
              <a:defRPr/>
            </a:pPr>
            <a:r>
              <a:rPr lang="en-US" sz="4200" dirty="0">
                <a:latin typeface="Arial Narrow" panose="020B0604020202020204" pitchFamily="34" charset="0"/>
                <a:cs typeface="Arial Narrow" panose="020B0604020202020204" pitchFamily="34" charset="0"/>
              </a:rPr>
              <a:t>Residual and QQ plots confirmed model assumptions; horse-period variance was ≅ 0 and was omitted for parsimony.</a:t>
            </a:r>
          </a:p>
          <a:p>
            <a:pPr lvl="1" algn="just">
              <a:defRPr/>
            </a:pPr>
            <a:endParaRPr lang="en-US" sz="4200" dirty="0">
              <a:latin typeface="Arial Narrow" panose="020B0604020202020204" pitchFamily="34" charset="0"/>
              <a:cs typeface="Arial Narrow" panose="020B0604020202020204" pitchFamily="34" charset="0"/>
            </a:endParaRPr>
          </a:p>
        </p:txBody>
      </p:sp>
      <p:sp>
        <p:nvSpPr>
          <p:cNvPr id="20" name="Rectangle 19">
            <a:extLst>
              <a:ext uri="{FF2B5EF4-FFF2-40B4-BE49-F238E27FC236}">
                <a16:creationId xmlns:a16="http://schemas.microsoft.com/office/drawing/2014/main" id="{9BDD62DC-3CD5-0748-A45F-173E221F7FC4}"/>
              </a:ext>
            </a:extLst>
          </p:cNvPr>
          <p:cNvSpPr/>
          <p:nvPr/>
        </p:nvSpPr>
        <p:spPr>
          <a:xfrm>
            <a:off x="29737820" y="29244965"/>
            <a:ext cx="13585375" cy="2677656"/>
          </a:xfrm>
          <a:prstGeom prst="rect">
            <a:avLst/>
          </a:prstGeom>
        </p:spPr>
        <p:txBody>
          <a:bodyPr wrap="square">
            <a:spAutoFit/>
          </a:bodyPr>
          <a:lstStyle/>
          <a:p>
            <a:r>
              <a:rPr lang="en-US" sz="4200" dirty="0">
                <a:latin typeface="Arial Narrow" panose="020B0604020202020204" pitchFamily="34" charset="0"/>
                <a:cs typeface="Arial Narrow" panose="020B0604020202020204" pitchFamily="34" charset="0"/>
              </a:rPr>
              <a:t>Thanks to the CSU Department of Statistics Undergraduate Research Program and the CSU Veterinarian Teaching Hospital, to Dr. Ann Hess and Dr. Rachel Hector for mentorship, and CURC for this presentation opportunity.</a:t>
            </a:r>
            <a:endParaRPr lang="en-US" sz="4200" dirty="0"/>
          </a:p>
        </p:txBody>
      </p:sp>
      <p:cxnSp>
        <p:nvCxnSpPr>
          <p:cNvPr id="21" name="Straight Connector 20">
            <a:extLst>
              <a:ext uri="{FF2B5EF4-FFF2-40B4-BE49-F238E27FC236}">
                <a16:creationId xmlns:a16="http://schemas.microsoft.com/office/drawing/2014/main" id="{5B25C672-D69C-794E-AA96-9E30C3B162B4}"/>
              </a:ext>
            </a:extLst>
          </p:cNvPr>
          <p:cNvCxnSpPr>
            <a:cxnSpLocks/>
          </p:cNvCxnSpPr>
          <p:nvPr/>
        </p:nvCxnSpPr>
        <p:spPr>
          <a:xfrm flipH="1">
            <a:off x="14395264" y="6128082"/>
            <a:ext cx="2" cy="26058798"/>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FCD18A6-6CD0-F644-91C1-E4C91B70BE1E}"/>
              </a:ext>
            </a:extLst>
          </p:cNvPr>
          <p:cNvCxnSpPr>
            <a:cxnSpLocks/>
          </p:cNvCxnSpPr>
          <p:nvPr/>
        </p:nvCxnSpPr>
        <p:spPr>
          <a:xfrm>
            <a:off x="28991769" y="6128082"/>
            <a:ext cx="0" cy="26058798"/>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BC73F8F-0E5B-664D-A5BE-DDF8909BB2CF}"/>
              </a:ext>
            </a:extLst>
          </p:cNvPr>
          <p:cNvCxnSpPr>
            <a:cxnSpLocks/>
          </p:cNvCxnSpPr>
          <p:nvPr/>
        </p:nvCxnSpPr>
        <p:spPr>
          <a:xfrm flipH="1">
            <a:off x="14688005" y="29858994"/>
            <a:ext cx="13735335" cy="0"/>
          </a:xfrm>
          <a:prstGeom prst="line">
            <a:avLst/>
          </a:prstGeom>
          <a:ln w="101600">
            <a:solidFill>
              <a:srgbClr val="C8C271"/>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B4D30929-5684-AC40-B55A-78AB1391176D}"/>
              </a:ext>
            </a:extLst>
          </p:cNvPr>
          <p:cNvSpPr/>
          <p:nvPr/>
        </p:nvSpPr>
        <p:spPr>
          <a:xfrm>
            <a:off x="11078669" y="4523944"/>
            <a:ext cx="20513843" cy="830997"/>
          </a:xfrm>
          <a:prstGeom prst="rect">
            <a:avLst/>
          </a:prstGeom>
        </p:spPr>
        <p:txBody>
          <a:bodyPr wrap="square">
            <a:spAutoFit/>
          </a:bodyPr>
          <a:lstStyle/>
          <a:p>
            <a:pPr algn="ctr"/>
            <a:r>
              <a:rPr lang="en-US" sz="4800" b="1" i="0" dirty="0">
                <a:latin typeface="Arial Narrow" panose="020B0604020202020204" pitchFamily="34" charset="0"/>
                <a:cs typeface="Arial Narrow" panose="020B0604020202020204" pitchFamily="34" charset="0"/>
              </a:rPr>
              <a:t>Data Science, College of Natural Sciences</a:t>
            </a:r>
          </a:p>
        </p:txBody>
      </p:sp>
      <p:cxnSp>
        <p:nvCxnSpPr>
          <p:cNvPr id="26" name="Straight Connector 25">
            <a:extLst>
              <a:ext uri="{FF2B5EF4-FFF2-40B4-BE49-F238E27FC236}">
                <a16:creationId xmlns:a16="http://schemas.microsoft.com/office/drawing/2014/main" id="{110A9AFC-093D-624D-8480-B1A0DC4E90F3}"/>
              </a:ext>
            </a:extLst>
          </p:cNvPr>
          <p:cNvCxnSpPr>
            <a:cxnSpLocks/>
          </p:cNvCxnSpPr>
          <p:nvPr/>
        </p:nvCxnSpPr>
        <p:spPr>
          <a:xfrm>
            <a:off x="47895" y="2424103"/>
            <a:ext cx="43891200" cy="0"/>
          </a:xfrm>
          <a:prstGeom prst="line">
            <a:avLst/>
          </a:prstGeom>
          <a:ln w="101600">
            <a:solidFill>
              <a:srgbClr val="014C22"/>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A3A0338-86C7-3B4D-B765-E20B8CD4A3E6}"/>
              </a:ext>
            </a:extLst>
          </p:cNvPr>
          <p:cNvSpPr txBox="1"/>
          <p:nvPr/>
        </p:nvSpPr>
        <p:spPr>
          <a:xfrm>
            <a:off x="14711382" y="30019740"/>
            <a:ext cx="13953819" cy="2677656"/>
          </a:xfrm>
          <a:prstGeom prst="rect">
            <a:avLst/>
          </a:prstGeom>
          <a:noFill/>
        </p:spPr>
        <p:txBody>
          <a:bodyPr wrap="square" rtlCol="0">
            <a:spAutoFit/>
          </a:bodyPr>
          <a:lstStyle/>
          <a:p>
            <a:pPr algn="just"/>
            <a:r>
              <a:rPr lang="en-US" sz="2400" b="0" i="0" dirty="0">
                <a:latin typeface="Arial Narrow" panose="020B0604020202020204" pitchFamily="34" charset="0"/>
                <a:cs typeface="Arial Narrow" panose="020B0604020202020204" pitchFamily="34" charset="0"/>
              </a:rPr>
              <a:t>[1] Goldstein Z, Hess A, Hector R. </a:t>
            </a:r>
            <a:r>
              <a:rPr lang="en-US" sz="2400" b="0" i="1" dirty="0">
                <a:latin typeface="Arial Narrow" panose="020B0604020202020204" pitchFamily="34" charset="0"/>
                <a:cs typeface="Arial Narrow" panose="020B0604020202020204" pitchFamily="34" charset="0"/>
              </a:rPr>
              <a:t>Statistical Analysis of Equine Corneal Anesthesia</a:t>
            </a:r>
            <a:r>
              <a:rPr lang="en-US" sz="2400" b="0" dirty="0">
                <a:latin typeface="Arial Narrow" panose="020B0604020202020204" pitchFamily="34" charset="0"/>
                <a:cs typeface="Arial Narrow" panose="020B0604020202020204" pitchFamily="34" charset="0"/>
              </a:rPr>
              <a:t>. College of Natural Sciences, Colorado State University; 2025.</a:t>
            </a:r>
          </a:p>
          <a:p>
            <a:pPr algn="just"/>
            <a:r>
              <a:rPr lang="en-US" sz="2400" i="0" dirty="0">
                <a:latin typeface="Arial Narrow" panose="020B0604020202020204" pitchFamily="34" charset="0"/>
                <a:cs typeface="Arial Narrow" panose="020B0604020202020204" pitchFamily="34" charset="0"/>
              </a:rPr>
              <a:t>Gonzales G, Betbeze C, Wills R, Eddy A L, </a:t>
            </a:r>
            <a:r>
              <a:rPr lang="en-US" sz="2400" i="0" dirty="0" err="1">
                <a:latin typeface="Arial Narrow" panose="020B0604020202020204" pitchFamily="34" charset="0"/>
                <a:cs typeface="Arial Narrow" panose="020B0604020202020204" pitchFamily="34" charset="0"/>
              </a:rPr>
              <a:t>Mochal</a:t>
            </a:r>
            <a:r>
              <a:rPr lang="en-US" sz="2400" i="0" dirty="0">
                <a:latin typeface="Arial Narrow" panose="020B0604020202020204" pitchFamily="34" charset="0"/>
                <a:cs typeface="Arial Narrow" panose="020B0604020202020204" pitchFamily="34" charset="0"/>
              </a:rPr>
              <a:t>-</a:t>
            </a:r>
            <a:r>
              <a:rPr lang="en-US" sz="2400" dirty="0">
                <a:latin typeface="Arial Narrow" panose="020B0604020202020204" pitchFamily="34" charset="0"/>
                <a:cs typeface="Arial Narrow" panose="020B0604020202020204" pitchFamily="34" charset="0"/>
              </a:rPr>
              <a:t>King C, Fontenot R L. Effects of subconjunctival ropivacaine, liposomal bupivacaine, and mepivacaine on corneal sensitivity in healthy horses. </a:t>
            </a:r>
            <a:r>
              <a:rPr lang="en-US" sz="2400" i="1" dirty="0">
                <a:latin typeface="Arial Narrow" panose="020B0604020202020204" pitchFamily="34" charset="0"/>
                <a:cs typeface="Arial Narrow" panose="020B0604020202020204" pitchFamily="34" charset="0"/>
              </a:rPr>
              <a:t>Veterinary Surgery.</a:t>
            </a:r>
            <a:r>
              <a:rPr lang="en-US" sz="2400" dirty="0">
                <a:latin typeface="Arial Narrow" panose="020B0604020202020204" pitchFamily="34" charset="0"/>
                <a:cs typeface="Arial Narrow" panose="020B0604020202020204" pitchFamily="34" charset="0"/>
              </a:rPr>
              <a:t> 2023; 52(7): 1041-1049. doi:10.1111/vsu.13980</a:t>
            </a:r>
          </a:p>
          <a:p>
            <a:pPr algn="just"/>
            <a:r>
              <a:rPr lang="en-US" sz="2400" b="0" i="0" dirty="0">
                <a:latin typeface="Arial Narrow" panose="020B0604020202020204" pitchFamily="34" charset="0"/>
                <a:cs typeface="Arial Narrow" panose="020B0604020202020204" pitchFamily="34" charset="0"/>
              </a:rPr>
              <a:t>Lum E, Murphy P J. Effects of ambient humidity on the Cochet-Bonnet aesthesiometer. </a:t>
            </a:r>
            <a:r>
              <a:rPr lang="en-US" sz="2400" b="0" i="1" dirty="0">
                <a:latin typeface="Arial Narrow" panose="020B0604020202020204" pitchFamily="34" charset="0"/>
                <a:cs typeface="Arial Narrow" panose="020B0604020202020204" pitchFamily="34" charset="0"/>
              </a:rPr>
              <a:t>Eye</a:t>
            </a:r>
            <a:r>
              <a:rPr lang="en-US" sz="2400" b="0" dirty="0">
                <a:latin typeface="Arial Narrow" panose="020B0604020202020204" pitchFamily="34" charset="0"/>
                <a:cs typeface="Arial Narrow" panose="020B0604020202020204" pitchFamily="34" charset="0"/>
              </a:rPr>
              <a:t>. 2018; 32(10): 1644-1651. doi:10.1038/s41433-018-0150-z</a:t>
            </a:r>
            <a:endParaRPr lang="en-US" sz="2400" b="0" i="0" dirty="0">
              <a:latin typeface="Arial Narrow" panose="020B0604020202020204" pitchFamily="34" charset="0"/>
              <a:cs typeface="Arial Narrow" panose="020B0604020202020204" pitchFamily="34" charset="0"/>
            </a:endParaRPr>
          </a:p>
        </p:txBody>
      </p:sp>
      <p:sp>
        <p:nvSpPr>
          <p:cNvPr id="31" name="TextBox 30">
            <a:extLst>
              <a:ext uri="{FF2B5EF4-FFF2-40B4-BE49-F238E27FC236}">
                <a16:creationId xmlns:a16="http://schemas.microsoft.com/office/drawing/2014/main" id="{A5C18F62-B206-DC18-FA18-02E56B72D5E2}"/>
              </a:ext>
            </a:extLst>
          </p:cNvPr>
          <p:cNvSpPr txBox="1"/>
          <p:nvPr/>
        </p:nvSpPr>
        <p:spPr>
          <a:xfrm>
            <a:off x="14818569" y="11908738"/>
            <a:ext cx="12623832" cy="561856"/>
          </a:xfrm>
          <a:prstGeom prst="roundRect">
            <a:avLst/>
          </a:prstGeom>
          <a:noFill/>
          <a:ln>
            <a:noFill/>
          </a:ln>
        </p:spPr>
        <p:txBody>
          <a:bodyPr wrap="square" rtlCol="0">
            <a:spAutoFit/>
          </a:bodyPr>
          <a:lstStyle/>
          <a:p>
            <a:pPr algn="ctr"/>
            <a:r>
              <a:rPr lang="en-US" sz="2700" dirty="0">
                <a:ea typeface="Helvetica Neue" panose="02000503000000020004" pitchFamily="2" charset="0"/>
                <a:cs typeface="Arial Narrow" panose="020B0604020202020204" pitchFamily="34" charset="0"/>
              </a:rPr>
              <a:t>Estimated Marginal Means For Total Anesthesia Time</a:t>
            </a:r>
          </a:p>
        </p:txBody>
      </p:sp>
      <p:pic>
        <p:nvPicPr>
          <p:cNvPr id="34" name="Picture 33" descr="A graph with lines and dots&#10;&#10;AI-generated content may be incorrect.">
            <a:extLst>
              <a:ext uri="{FF2B5EF4-FFF2-40B4-BE49-F238E27FC236}">
                <a16:creationId xmlns:a16="http://schemas.microsoft.com/office/drawing/2014/main" id="{4F0A47DA-F924-4F55-7E31-80EA1DAABC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36" y="14055464"/>
            <a:ext cx="12432078" cy="8580259"/>
          </a:xfrm>
          <a:prstGeom prst="rect">
            <a:avLst/>
          </a:prstGeom>
        </p:spPr>
      </p:pic>
      <p:sp>
        <p:nvSpPr>
          <p:cNvPr id="41" name="TextBox 40">
            <a:extLst>
              <a:ext uri="{FF2B5EF4-FFF2-40B4-BE49-F238E27FC236}">
                <a16:creationId xmlns:a16="http://schemas.microsoft.com/office/drawing/2014/main" id="{748663B9-0E35-E147-356E-3C4ECD23455B}"/>
              </a:ext>
            </a:extLst>
          </p:cNvPr>
          <p:cNvSpPr txBox="1"/>
          <p:nvPr/>
        </p:nvSpPr>
        <p:spPr>
          <a:xfrm>
            <a:off x="14954152" y="28902935"/>
            <a:ext cx="13585375" cy="830997"/>
          </a:xfrm>
          <a:prstGeom prst="rect">
            <a:avLst/>
          </a:prstGeom>
          <a:noFill/>
        </p:spPr>
        <p:txBody>
          <a:bodyPr wrap="square" rtlCol="0">
            <a:spAutoFit/>
          </a:bodyPr>
          <a:lstStyle/>
          <a:p>
            <a:pPr algn="just"/>
            <a:r>
              <a:rPr lang="en-US" sz="2400" b="0" i="0" dirty="0">
                <a:latin typeface="Arial Narrow" panose="020B0604020202020204" pitchFamily="34" charset="0"/>
                <a:cs typeface="Arial Narrow" panose="020B0604020202020204" pitchFamily="34" charset="0"/>
              </a:rPr>
              <a:t>Figure 3. Corneal touch-threshold (CTT) recovery for a representative horse (ID 4) under DR, R, and S. Lower CTT values over a longer period under DR demonstrate the extended sensory blockade compared with R and S.</a:t>
            </a:r>
          </a:p>
        </p:txBody>
      </p:sp>
      <p:grpSp>
        <p:nvGrpSpPr>
          <p:cNvPr id="52" name="Group 51">
            <a:extLst>
              <a:ext uri="{FF2B5EF4-FFF2-40B4-BE49-F238E27FC236}">
                <a16:creationId xmlns:a16="http://schemas.microsoft.com/office/drawing/2014/main" id="{AB120651-4EEE-D678-6483-D7143A9C3A8C}"/>
              </a:ext>
            </a:extLst>
          </p:cNvPr>
          <p:cNvGrpSpPr/>
          <p:nvPr/>
        </p:nvGrpSpPr>
        <p:grpSpPr>
          <a:xfrm>
            <a:off x="15910666" y="20861843"/>
            <a:ext cx="11439972" cy="7777001"/>
            <a:chOff x="15910666" y="20861843"/>
            <a:chExt cx="11439972" cy="7777001"/>
          </a:xfrm>
        </p:grpSpPr>
        <p:pic>
          <p:nvPicPr>
            <p:cNvPr id="43" name="Picture 42" descr="A close-up of a symbol&#10;&#10;AI-generated content may be incorrect.">
              <a:extLst>
                <a:ext uri="{FF2B5EF4-FFF2-40B4-BE49-F238E27FC236}">
                  <a16:creationId xmlns:a16="http://schemas.microsoft.com/office/drawing/2014/main" id="{7055DE1C-AA2B-A905-4166-1FE9A8993A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905655" y="28264862"/>
              <a:ext cx="1300033" cy="373982"/>
            </a:xfrm>
            <a:prstGeom prst="rect">
              <a:avLst/>
            </a:prstGeom>
          </p:spPr>
        </p:pic>
        <p:grpSp>
          <p:nvGrpSpPr>
            <p:cNvPr id="51" name="Group 50">
              <a:extLst>
                <a:ext uri="{FF2B5EF4-FFF2-40B4-BE49-F238E27FC236}">
                  <a16:creationId xmlns:a16="http://schemas.microsoft.com/office/drawing/2014/main" id="{212F75A2-49A0-019A-8E1C-354620AFD944}"/>
                </a:ext>
              </a:extLst>
            </p:cNvPr>
            <p:cNvGrpSpPr/>
            <p:nvPr/>
          </p:nvGrpSpPr>
          <p:grpSpPr>
            <a:xfrm>
              <a:off x="15910666" y="20861843"/>
              <a:ext cx="11439972" cy="7505102"/>
              <a:chOff x="15910666" y="20609810"/>
              <a:chExt cx="11439972" cy="7505102"/>
            </a:xfrm>
          </p:grpSpPr>
          <p:pic>
            <p:nvPicPr>
              <p:cNvPr id="36" name="Picture 35" descr="A graph with blue and orange lines&#10;&#10;AI-generated content may be incorrect.">
                <a:extLst>
                  <a:ext uri="{FF2B5EF4-FFF2-40B4-BE49-F238E27FC236}">
                    <a16:creationId xmlns:a16="http://schemas.microsoft.com/office/drawing/2014/main" id="{EC231CFC-4CE3-CA8C-5CFA-3D836CA1EB07}"/>
                  </a:ext>
                </a:extLst>
              </p:cNvPr>
              <p:cNvPicPr>
                <a:picLocks noChangeAspect="1"/>
              </p:cNvPicPr>
              <p:nvPr/>
            </p:nvPicPr>
            <p:blipFill>
              <a:blip r:embed="rId5">
                <a:extLst>
                  <a:ext uri="{28A0092B-C50C-407E-A947-70E740481C1C}">
                    <a14:useLocalDpi xmlns:a14="http://schemas.microsoft.com/office/drawing/2010/main" val="0"/>
                  </a:ext>
                </a:extLst>
              </a:blip>
              <a:srcRect t="745"/>
              <a:stretch>
                <a:fillRect/>
              </a:stretch>
            </p:blipFill>
            <p:spPr>
              <a:xfrm>
                <a:off x="15910666" y="20609810"/>
                <a:ext cx="11439972" cy="7178055"/>
              </a:xfrm>
              <a:prstGeom prst="rect">
                <a:avLst/>
              </a:prstGeom>
            </p:spPr>
          </p:pic>
          <p:sp>
            <p:nvSpPr>
              <p:cNvPr id="44" name="TextBox 43">
                <a:extLst>
                  <a:ext uri="{FF2B5EF4-FFF2-40B4-BE49-F238E27FC236}">
                    <a16:creationId xmlns:a16="http://schemas.microsoft.com/office/drawing/2014/main" id="{61960DA9-2E44-3113-197B-A4D7070142AA}"/>
                  </a:ext>
                </a:extLst>
              </p:cNvPr>
              <p:cNvSpPr txBox="1"/>
              <p:nvPr/>
            </p:nvSpPr>
            <p:spPr>
              <a:xfrm>
                <a:off x="16894175" y="27745580"/>
                <a:ext cx="139691" cy="369332"/>
              </a:xfrm>
              <a:prstGeom prst="rect">
                <a:avLst/>
              </a:prstGeom>
              <a:noFill/>
            </p:spPr>
            <p:txBody>
              <a:bodyPr wrap="square" rtlCol="0">
                <a:spAutoFit/>
              </a:bodyPr>
              <a:lstStyle/>
              <a:p>
                <a:r>
                  <a:rPr lang="en-US" sz="1800" dirty="0"/>
                  <a:t>0</a:t>
                </a:r>
              </a:p>
            </p:txBody>
          </p:sp>
          <p:sp>
            <p:nvSpPr>
              <p:cNvPr id="45" name="TextBox 44">
                <a:extLst>
                  <a:ext uri="{FF2B5EF4-FFF2-40B4-BE49-F238E27FC236}">
                    <a16:creationId xmlns:a16="http://schemas.microsoft.com/office/drawing/2014/main" id="{4A62F78A-4A24-43C8-4A17-9DBD4F1ADC19}"/>
                  </a:ext>
                </a:extLst>
              </p:cNvPr>
              <p:cNvSpPr txBox="1"/>
              <p:nvPr/>
            </p:nvSpPr>
            <p:spPr>
              <a:xfrm>
                <a:off x="18510250" y="27718763"/>
                <a:ext cx="549259" cy="369332"/>
              </a:xfrm>
              <a:prstGeom prst="rect">
                <a:avLst/>
              </a:prstGeom>
              <a:noFill/>
            </p:spPr>
            <p:txBody>
              <a:bodyPr wrap="square" rtlCol="0">
                <a:spAutoFit/>
              </a:bodyPr>
              <a:lstStyle/>
              <a:p>
                <a:r>
                  <a:rPr lang="en-US" sz="1800" dirty="0"/>
                  <a:t>100</a:t>
                </a:r>
              </a:p>
            </p:txBody>
          </p:sp>
          <p:sp>
            <p:nvSpPr>
              <p:cNvPr id="46" name="TextBox 45">
                <a:extLst>
                  <a:ext uri="{FF2B5EF4-FFF2-40B4-BE49-F238E27FC236}">
                    <a16:creationId xmlns:a16="http://schemas.microsoft.com/office/drawing/2014/main" id="{02A23225-4D30-B236-73A4-32F0A68A10DC}"/>
                  </a:ext>
                </a:extLst>
              </p:cNvPr>
              <p:cNvSpPr txBox="1"/>
              <p:nvPr/>
            </p:nvSpPr>
            <p:spPr>
              <a:xfrm>
                <a:off x="20257802" y="27718763"/>
                <a:ext cx="549259" cy="369332"/>
              </a:xfrm>
              <a:prstGeom prst="rect">
                <a:avLst/>
              </a:prstGeom>
              <a:noFill/>
            </p:spPr>
            <p:txBody>
              <a:bodyPr wrap="square" rtlCol="0">
                <a:spAutoFit/>
              </a:bodyPr>
              <a:lstStyle/>
              <a:p>
                <a:r>
                  <a:rPr lang="en-US" sz="1800" dirty="0"/>
                  <a:t>200</a:t>
                </a:r>
              </a:p>
            </p:txBody>
          </p:sp>
          <p:sp>
            <p:nvSpPr>
              <p:cNvPr id="47" name="TextBox 46">
                <a:extLst>
                  <a:ext uri="{FF2B5EF4-FFF2-40B4-BE49-F238E27FC236}">
                    <a16:creationId xmlns:a16="http://schemas.microsoft.com/office/drawing/2014/main" id="{030D0547-CFBB-6498-A795-3A552F5B3BF5}"/>
                  </a:ext>
                </a:extLst>
              </p:cNvPr>
              <p:cNvSpPr txBox="1"/>
              <p:nvPr/>
            </p:nvSpPr>
            <p:spPr>
              <a:xfrm>
                <a:off x="22005354" y="27719742"/>
                <a:ext cx="549259" cy="369332"/>
              </a:xfrm>
              <a:prstGeom prst="rect">
                <a:avLst/>
              </a:prstGeom>
              <a:noFill/>
            </p:spPr>
            <p:txBody>
              <a:bodyPr wrap="square" rtlCol="0">
                <a:spAutoFit/>
              </a:bodyPr>
              <a:lstStyle/>
              <a:p>
                <a:r>
                  <a:rPr lang="en-US" sz="1800" dirty="0"/>
                  <a:t>300</a:t>
                </a:r>
              </a:p>
            </p:txBody>
          </p:sp>
          <p:sp>
            <p:nvSpPr>
              <p:cNvPr id="48" name="TextBox 47">
                <a:extLst>
                  <a:ext uri="{FF2B5EF4-FFF2-40B4-BE49-F238E27FC236}">
                    <a16:creationId xmlns:a16="http://schemas.microsoft.com/office/drawing/2014/main" id="{C283DDFE-156F-964E-12D0-D9E9A1FBC31D}"/>
                  </a:ext>
                </a:extLst>
              </p:cNvPr>
              <p:cNvSpPr txBox="1"/>
              <p:nvPr/>
            </p:nvSpPr>
            <p:spPr>
              <a:xfrm>
                <a:off x="23777204" y="27725463"/>
                <a:ext cx="549259" cy="369332"/>
              </a:xfrm>
              <a:prstGeom prst="rect">
                <a:avLst/>
              </a:prstGeom>
              <a:noFill/>
            </p:spPr>
            <p:txBody>
              <a:bodyPr wrap="square" rtlCol="0">
                <a:spAutoFit/>
              </a:bodyPr>
              <a:lstStyle/>
              <a:p>
                <a:r>
                  <a:rPr lang="en-US" sz="1800" dirty="0"/>
                  <a:t>400</a:t>
                </a:r>
              </a:p>
            </p:txBody>
          </p:sp>
        </p:grpSp>
      </p:grpSp>
      <p:pic>
        <p:nvPicPr>
          <p:cNvPr id="58" name="Picture 57" descr="A graph of hemorrhage scores&#10;&#10;AI-generated content may be incorrect.">
            <a:extLst>
              <a:ext uri="{FF2B5EF4-FFF2-40B4-BE49-F238E27FC236}">
                <a16:creationId xmlns:a16="http://schemas.microsoft.com/office/drawing/2014/main" id="{2F61383B-751A-1FD3-03CA-66302E5EF7A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181393" y="19268524"/>
            <a:ext cx="12043605" cy="7833918"/>
          </a:xfrm>
          <a:prstGeom prst="rect">
            <a:avLst/>
          </a:prstGeom>
        </p:spPr>
      </p:pic>
      <p:sp>
        <p:nvSpPr>
          <p:cNvPr id="62" name="TextBox 61">
            <a:extLst>
              <a:ext uri="{FF2B5EF4-FFF2-40B4-BE49-F238E27FC236}">
                <a16:creationId xmlns:a16="http://schemas.microsoft.com/office/drawing/2014/main" id="{1843F982-27F0-9936-3D10-D398FECF5B65}"/>
              </a:ext>
            </a:extLst>
          </p:cNvPr>
          <p:cNvSpPr txBox="1"/>
          <p:nvPr/>
        </p:nvSpPr>
        <p:spPr>
          <a:xfrm>
            <a:off x="29522057" y="26894693"/>
            <a:ext cx="13585375" cy="830997"/>
          </a:xfrm>
          <a:prstGeom prst="rect">
            <a:avLst/>
          </a:prstGeom>
          <a:noFill/>
        </p:spPr>
        <p:txBody>
          <a:bodyPr wrap="square" rtlCol="0">
            <a:spAutoFit/>
          </a:bodyPr>
          <a:lstStyle/>
          <a:p>
            <a:pPr algn="just"/>
            <a:r>
              <a:rPr lang="en-US" sz="2400" b="0" i="0" dirty="0">
                <a:latin typeface="Arial Narrow" panose="020B0604020202020204" pitchFamily="34" charset="0"/>
                <a:cs typeface="Arial Narrow" panose="020B0604020202020204" pitchFamily="34" charset="0"/>
              </a:rPr>
              <a:t>Figure 4. Stacked bar chart showing the proportion of eyes within each hemorrhage grade (0-3). Scores ≥ 2 are most frequent under DR protocol</a:t>
            </a:r>
          </a:p>
        </p:txBody>
      </p:sp>
    </p:spTree>
    <p:extLst>
      <p:ext uri="{BB962C8B-B14F-4D97-AF65-F5344CB8AC3E}">
        <p14:creationId xmlns:p14="http://schemas.microsoft.com/office/powerpoint/2010/main" val="1167517197"/>
      </p:ext>
    </p:extLst>
  </p:cSld>
  <p:clrMapOvr>
    <a:masterClrMapping/>
  </p:clrMapOvr>
</p:sld>
</file>

<file path=ppt/theme/theme1.xml><?xml version="1.0" encoding="utf-8"?>
<a:theme xmlns:a="http://schemas.openxmlformats.org/drawingml/2006/main" name="Poster Layout 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C2022_PosterTemplate" id="{18492BF2-5D84-6241-847A-5D49A4ED879F}" vid="{1EC4D677-62C4-7746-BA28-3CD89C6C6603}"/>
    </a:ext>
  </a:extLst>
</a:theme>
</file>

<file path=ppt/theme/theme2.xml><?xml version="1.0" encoding="utf-8"?>
<a:theme xmlns:a="http://schemas.openxmlformats.org/drawingml/2006/main" name="Poster Layout 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C2022_PosterTemplate" id="{18492BF2-5D84-6241-847A-5D49A4ED879F}" vid="{2A7B6AC6-34BE-E44F-9B75-E79F863FB129}"/>
    </a:ext>
  </a:extLst>
</a:theme>
</file>

<file path=ppt/theme/theme3.xml><?xml version="1.0" encoding="utf-8"?>
<a:theme xmlns:a="http://schemas.openxmlformats.org/drawingml/2006/main" name="Poster Layout 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C2022_PosterTemplate" id="{18492BF2-5D84-6241-847A-5D49A4ED879F}" vid="{817F5C70-4C14-EE47-87E0-E6B50E13F5C1}"/>
    </a:ext>
  </a:extLst>
</a:theme>
</file>

<file path=ppt/theme/theme4.xml><?xml version="1.0" encoding="utf-8"?>
<a:theme xmlns:a="http://schemas.openxmlformats.org/drawingml/2006/main" name="Poster Layout 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09431c2-0be8-476a-b36b-3053e3c8ff47">
      <Terms xmlns="http://schemas.microsoft.com/office/infopath/2007/PartnerControls"/>
    </lcf76f155ced4ddcb4097134ff3c332f>
    <TaxCatchAll xmlns="746b6c97-b806-47fc-8ba4-a9de35af43d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448E7D41AA9E741BDAE021A94205DA2" ma:contentTypeVersion="18" ma:contentTypeDescription="Create a new document." ma:contentTypeScope="" ma:versionID="5127614ddde62c0acef18ee3c4a985dc">
  <xsd:schema xmlns:xsd="http://www.w3.org/2001/XMLSchema" xmlns:xs="http://www.w3.org/2001/XMLSchema" xmlns:p="http://schemas.microsoft.com/office/2006/metadata/properties" xmlns:ns2="e09431c2-0be8-476a-b36b-3053e3c8ff47" xmlns:ns3="746b6c97-b806-47fc-8ba4-a9de35af43d3" targetNamespace="http://schemas.microsoft.com/office/2006/metadata/properties" ma:root="true" ma:fieldsID="8333417cfe1411128cee8b8b5a6c7fd8" ns2:_="" ns3:_="">
    <xsd:import namespace="e09431c2-0be8-476a-b36b-3053e3c8ff47"/>
    <xsd:import namespace="746b6c97-b806-47fc-8ba4-a9de35af43d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Location" minOccurs="0"/>
                <xsd:element ref="ns3:TaxCatchAll"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9431c2-0be8-476a-b36b-3053e3c8ff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5809afe7-41e7-411a-ade2-84efccde1b30"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46b6c97-b806-47fc-8ba4-a9de35af43d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edcfa4a3-ce05-4bf4-8bbc-0946c5a76692}" ma:internalName="TaxCatchAll" ma:showField="CatchAllData" ma:web="746b6c97-b806-47fc-8ba4-a9de35af43d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8E70A57-9413-4DEB-BA6F-E542025AC4FC}">
  <ds:schemaRefs>
    <ds:schemaRef ds:uri="746b6c97-b806-47fc-8ba4-a9de35af43d3"/>
    <ds:schemaRef ds:uri="http://purl.org/dc/elements/1.1/"/>
    <ds:schemaRef ds:uri="http://www.w3.org/XML/1998/namespace"/>
    <ds:schemaRef ds:uri="http://purl.org/dc/term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schemas.microsoft.com/office/infopath/2007/PartnerControls"/>
    <ds:schemaRef ds:uri="e09431c2-0be8-476a-b36b-3053e3c8ff47"/>
  </ds:schemaRefs>
</ds:datastoreItem>
</file>

<file path=customXml/itemProps2.xml><?xml version="1.0" encoding="utf-8"?>
<ds:datastoreItem xmlns:ds="http://schemas.openxmlformats.org/officeDocument/2006/customXml" ds:itemID="{53BE041C-0A10-4D4F-AE95-759A9E0782FF}">
  <ds:schemaRefs>
    <ds:schemaRef ds:uri="http://schemas.microsoft.com/sharepoint/v3/contenttype/forms"/>
  </ds:schemaRefs>
</ds:datastoreItem>
</file>

<file path=customXml/itemProps3.xml><?xml version="1.0" encoding="utf-8"?>
<ds:datastoreItem xmlns:ds="http://schemas.openxmlformats.org/officeDocument/2006/customXml" ds:itemID="{9E9E8748-7647-4B17-AD5B-7DB37B2FD8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9431c2-0be8-476a-b36b-3053e3c8ff47"/>
    <ds:schemaRef ds:uri="746b6c97-b806-47fc-8ba4-a9de35af43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929</TotalTime>
  <Words>787</Words>
  <Application>Microsoft Macintosh PowerPoint</Application>
  <PresentationFormat>Custom</PresentationFormat>
  <Paragraphs>43</Paragraphs>
  <Slides>1</Slides>
  <Notes>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vt:i4>
      </vt:variant>
    </vt:vector>
  </HeadingPairs>
  <TitlesOfParts>
    <vt:vector size="10" baseType="lpstr">
      <vt:lpstr>Arial</vt:lpstr>
      <vt:lpstr>Arial Narrow</vt:lpstr>
      <vt:lpstr>Calibri</vt:lpstr>
      <vt:lpstr>Comic Sans MS</vt:lpstr>
      <vt:lpstr>Helvetica Neue</vt:lpstr>
      <vt:lpstr>Poster Layout 1</vt:lpstr>
      <vt:lpstr>Poster Layout 2</vt:lpstr>
      <vt:lpstr>Poster Layout 3</vt:lpstr>
      <vt:lpstr>Poster Layout 4</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Hibbs-Shipp,Sarah</dc:creator>
  <cp:lastModifiedBy>Goldstein,Zach</cp:lastModifiedBy>
  <cp:revision>328</cp:revision>
  <cp:lastPrinted>2026-04-14T21:24:47Z</cp:lastPrinted>
  <dcterms:created xsi:type="dcterms:W3CDTF">2020-09-22T16:21:00Z</dcterms:created>
  <dcterms:modified xsi:type="dcterms:W3CDTF">2026-04-20T16:01:40Z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0x0101004448E7D41AA9E741BDAE021A94205DA2</vt:lpwstr>
  </property>
</Properties>
</file>